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361da15-4fe8-fd12-5f41-9bfb4e7e8f3d}">
          <p14:sldIdLst>
            <p14:sldId id="256"/>
            <p14:sldId id="257"/>
          </p14:sldIdLst>
        </p14:section>
        <p14:section name="The chain" id="{7b72c09b-0faf-fcca-bcaa-ada1b3945043}">
          <p14:sldIdLst>
            <p14:sldId id="258"/>
            <p14:sldId id="259"/>
          </p14:sldIdLst>
        </p14:section>
        <p14:section name="Blocks" id="{84c2875d-d1a9-23ed-db9e-0bbccfd8cca2}">
          <p14:sldIdLst>
            <p14:sldId id="260"/>
            <p14:sldId id="261"/>
            <p14:sldId id="262"/>
            <p14:sldId id="263"/>
            <p14:sldId id="264"/>
          </p14:sldIdLst>
        </p14:section>
        <p14:section name="ADCs" id="{4ae9346b-0327-a129-72db-57966643d454}">
          <p14:sldIdLst>
            <p14:sldId id="265"/>
            <p14:sldId id="266"/>
            <p14:sldId id="267"/>
          </p14:sldIdLst>
        </p14:section>
        <p14:section name="Comparison" id="{5a913b21-ab38-c676-c9c1-f2728f22bd4a}">
          <p14:sldIdLst>
            <p14:sldId id="268"/>
            <p14:sldId id="269"/>
            <p14:sldId id="270"/>
          </p14:sldIdLst>
        </p14:section>
        <p14:section name="Wrap-up" id="{bb067b8d-2b1e-9f12-983f-c03d60fbaf7a}">
          <p14:sldIdLst>
            <p14:sldId id="271"/>
            <p14:sldId id="272"/>
          </p14:sldIdLst>
        </p14:section>
        <p14:section name="Backup" id="{ffc65e0a-4a3b-73b4-9df4-85de981d246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D2B36"/>
                </a:solidFill>
                <a:latin typeface="+mn-lt"/>
              </a:defRPr>
            </a:pPr>
            <a:r>
              <a:rPr sz="1500" b="0" i="0" u="none" strike="noStrike">
                <a:solidFill>
                  <a:srgbClr val="1D2B36"/>
                </a:solidFill>
                <a:latin typeface="+mn-lt"/>
              </a:rPr>
              <a:t>Offset vs ADJ (MINUS = 0.4 V)</a:t>
            </a:r>
          </a:p>
        </c:rich>
      </c:tx>
      <c:layout/>
      <c:overlay val="0"/>
    </c:title>
    <c:autoTitleDeleted val="0"/>
    <c:plotArea>
      <c:layout/>
      <c:lineChart>
        <c:varyColors val="0"/>
        <c:ser>
          <c:idx val="0"/>
          <c:order val="0"/>
          <c:tx>
            <c:strRef>
              <c:f>Sheet1!$B$1</c:f>
              <c:strCache>
                <c:ptCount val="1"/>
                <c:pt idx="0">
                  <c:v>Offset</c:v>
                </c:pt>
              </c:strCache>
            </c:strRef>
          </c:tx>
          <c:spPr>
            <a:solidFill>
              <a:srgbClr val="C8553D"/>
            </a:solidFill>
            <a:ln w="31750" cap="flat">
              <a:solidFill>
                <a:srgbClr val="C8553D"/>
              </a:solidFill>
              <a:prstDash val="solid"/>
              <a:round/>
            </a:ln>
            <a:effectLst/>
          </c:spPr>
          <c:invertIfNegative val="0"/>
          <c:dLbls>
            <c:numFmt formatCode="0" sourceLinked="0"/>
            <c:txPr>
              <a:bodyPr/>
              <a:lstStyle/>
              <a:p>
                <a:pPr>
                  <a:defRPr b="0" i="0" strike="noStrike" sz="1100" u="none">
                    <a:solidFill>
                      <a:srgbClr val="1D2B36"/>
                    </a:solidFill>
                    <a:latin typeface="+mn-lt"/>
                  </a:defRPr>
                </a:pPr>
              </a:p>
            </c:txPr>
            <c:dLblPos val="t"/>
            <c:showLegendKey val="0"/>
            <c:showVal val="1"/>
            <c:showCatName val="0"/>
            <c:showSerName val="0"/>
            <c:showPercent val="0"/>
            <c:showBubbleSize val="0"/>
            <c:showLeaderLines val="0"/>
          </c:dLbls>
          <c:marker>
            <c:symbol val="circle"/>
            <c:size val="7"/>
            <c:spPr>
              <a:solidFill>
                <a:srgbClr val="C8553D"/>
              </a:solidFill>
              <a:ln w="9525" cap="flat">
                <a:solidFill>
                  <a:srgbClr val="C8553D"/>
                </a:solidFill>
                <a:prstDash val="solid"/>
                <a:round/>
              </a:ln>
              <a:effectLst/>
            </c:spPr>
          </c:marker>
          <c:cat>
            <c:multiLvlStrRef>
              <c:f>Sheet1!$A$2:$A$8</c:f>
              <c:multiLvlStrCache>
                <c:ptCount val="7"/>
                <c:lvl>
                  <c:pt idx="0">
                    <c:v>0.6</c:v>
                  </c:pt>
                  <c:pt idx="1">
                    <c:v>0.65</c:v>
                  </c:pt>
                  <c:pt idx="2">
                    <c:v>0.7</c:v>
                  </c:pt>
                  <c:pt idx="3">
                    <c:v>0.75</c:v>
                  </c:pt>
                  <c:pt idx="4">
                    <c:v>0.8</c:v>
                  </c:pt>
                  <c:pt idx="5">
                    <c:v>0.85</c:v>
                  </c:pt>
                  <c:pt idx="6">
                    <c:v>0.9</c:v>
                  </c:pt>
                </c:lvl>
              </c:multiLvlStrCache>
            </c:multiLvlStrRef>
          </c:cat>
          <c:val>
            <c:numRef>
              <c:f>Sheet1!$B$2:$B$8</c:f>
              <c:numCache>
                <c:formatCode>General</c:formatCode>
                <c:ptCount val="7"/>
                <c:pt idx="0">
                  <c:v>-54.9</c:v>
                </c:pt>
                <c:pt idx="1">
                  <c:v>-39.7</c:v>
                </c:pt>
                <c:pt idx="2">
                  <c:v>-23</c:v>
                </c:pt>
                <c:pt idx="3">
                  <c:v>-5.4</c:v>
                </c:pt>
                <c:pt idx="4">
                  <c:v>13.2</c:v>
                </c:pt>
                <c:pt idx="5">
                  <c:v>32.8</c:v>
                </c:pt>
                <c:pt idx="6">
                  <c:v>53.6</c:v>
                </c:pt>
              </c:numCache>
            </c:numRef>
          </c:val>
          <c:smooth val="0"/>
        </c:ser>
        <c:dLbls>
          <c:numFmt formatCode="0" sourceLinked="0"/>
          <c:txPr>
            <a:bodyPr/>
            <a:lstStyle/>
            <a:p>
              <a:pPr>
                <a:defRPr b="0" i="0" strike="noStrike" sz="1100" u="none">
                  <a:solidFill>
                    <a:srgbClr val="1D2B36"/>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3B4A55"/>
                    </a:solidFill>
                    <a:latin typeface="+mn-lt"/>
                  </a:defRPr>
                </a:pPr>
                <a:r>
                  <a:rPr sz="1200" b="0" i="0" u="none" strike="noStrike">
                    <a:solidFill>
                      <a:srgbClr val="3B4A55"/>
                    </a:solidFill>
                    <a:latin typeface="+mn-lt"/>
                  </a:rPr>
                  <a:t>ADJ (V)</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B4A5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EE2"/>
              </a:solidFill>
              <a:prstDash val="solid"/>
              <a:round/>
            </a:ln>
          </c:spPr>
        </c:majorGridlines>
        <c:title>
          <c:tx>
            <c:rich>
              <a:bodyPr/>
              <a:lstStyle/>
              <a:p>
                <a:pPr>
                  <a:defRPr sz="1200" b="0" i="0" u="none" strike="noStrike">
                    <a:solidFill>
                      <a:srgbClr val="3B4A55"/>
                    </a:solidFill>
                    <a:latin typeface="+mn-lt"/>
                  </a:defRPr>
                </a:pPr>
                <a:r>
                  <a:rPr sz="1200" b="0" i="0" u="none" strike="noStrike">
                    <a:solidFill>
                      <a:srgbClr val="3B4A55"/>
                    </a:solidFill>
                    <a:latin typeface="+mn-lt"/>
                  </a:rPr>
                  <a:t>offset (mV)</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B4A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D2B36"/>
                </a:solidFill>
                <a:latin typeface="+mn-lt"/>
              </a:defRPr>
            </a:pPr>
            <a:r>
              <a:rPr sz="1500" b="0" i="0" u="none" strike="noStrike">
                <a:solidFill>
                  <a:srgbClr val="1D2B36"/>
                </a:solidFill>
                <a:latin typeface="+mn-lt"/>
              </a:rPr>
              <a:t>Rising delay vs overdrive (ADJ = 0.75 V)</a:t>
            </a:r>
          </a:p>
        </c:rich>
      </c:tx>
      <c:layout/>
      <c:overlay val="0"/>
    </c:title>
    <c:autoTitleDeleted val="0"/>
    <c:plotArea>
      <c:layout/>
      <c:barChart>
        <c:barDir val="col"/>
        <c:grouping val="clustered"/>
        <c:varyColors val="0"/>
        <c:ser>
          <c:idx val="0"/>
          <c:order val="0"/>
          <c:tx>
            <c:strRef>
              <c:f>Sheet1!$B$1</c:f>
              <c:strCache>
                <c:ptCount val="1"/>
                <c:pt idx="0">
                  <c:v>Delay</c:v>
                </c:pt>
              </c:strCache>
            </c:strRef>
          </c:tx>
          <c:spPr>
            <a:solidFill>
              <a:srgbClr val="3D7A8A"/>
            </a:solidFill>
            <a:effectLst/>
          </c:spPr>
          <c:invertIfNegative val="0"/>
          <c:dLbls>
            <c:numFmt formatCode="0.0" sourceLinked="0"/>
            <c:txPr>
              <a:bodyPr/>
              <a:lstStyle/>
              <a:p>
                <a:pPr>
                  <a:defRPr b="0" i="0" strike="noStrike" sz="1100" u="none">
                    <a:solidFill>
                      <a:srgbClr val="1D2B36"/>
                    </a:solidFill>
                    <a:latin typeface="+mn-lt"/>
                  </a:defRPr>
                </a:pPr>
              </a:p>
            </c:txPr>
            <c:showLegendKey val="0"/>
            <c:showVal val="1"/>
            <c:showCatName val="0"/>
            <c:showSerName val="0"/>
            <c:showPercent val="0"/>
            <c:showBubbleSize val="0"/>
            <c:showLeaderLines val="0"/>
          </c:dLbls>
          <c:cat>
            <c:multiLvlStrRef>
              <c:f>Sheet1!$A$2:$A$6</c:f>
              <c:multiLvlStrCache>
                <c:ptCount val="5"/>
                <c:lvl>
                  <c:pt idx="0">
                    <c:v>10</c:v>
                  </c:pt>
                  <c:pt idx="1">
                    <c:v>25</c:v>
                  </c:pt>
                  <c:pt idx="2">
                    <c:v>50</c:v>
                  </c:pt>
                  <c:pt idx="3">
                    <c:v>100</c:v>
                  </c:pt>
                  <c:pt idx="4">
                    <c:v>200</c:v>
                  </c:pt>
                </c:lvl>
              </c:multiLvlStrCache>
            </c:multiLvlStrRef>
          </c:cat>
          <c:val>
            <c:numRef>
              <c:f>Sheet1!$B$2:$B$6</c:f>
              <c:numCache>
                <c:formatCode>General</c:formatCode>
                <c:ptCount val="5"/>
                <c:pt idx="0">
                  <c:v>37.1</c:v>
                </c:pt>
                <c:pt idx="1">
                  <c:v>27.5</c:v>
                </c:pt>
                <c:pt idx="2">
                  <c:v>20.5</c:v>
                </c:pt>
                <c:pt idx="3">
                  <c:v>15</c:v>
                </c:pt>
                <c:pt idx="4">
                  <c:v>11.8</c:v>
                </c:pt>
              </c:numCache>
            </c:numRef>
          </c:val>
        </c:ser>
        <c:dLbls>
          <c:numFmt formatCode="0.0" sourceLinked="0"/>
          <c:txPr>
            <a:bodyPr/>
            <a:lstStyle/>
            <a:p>
              <a:pPr>
                <a:defRPr b="0" i="0" strike="noStrike" sz="1100" u="none">
                  <a:solidFill>
                    <a:srgbClr val="1D2B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3B4A55"/>
                    </a:solidFill>
                    <a:latin typeface="+mn-lt"/>
                  </a:defRPr>
                </a:pPr>
                <a:r>
                  <a:rPr sz="1200" b="0" i="0" u="none" strike="noStrike">
                    <a:solidFill>
                      <a:srgbClr val="3B4A55"/>
                    </a:solidFill>
                    <a:latin typeface="+mn-lt"/>
                  </a:rPr>
                  <a:t>overdrive (mV)</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B4A5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EE2"/>
              </a:solidFill>
              <a:prstDash val="solid"/>
              <a:round/>
            </a:ln>
          </c:spPr>
        </c:majorGridlines>
        <c:title>
          <c:tx>
            <c:rich>
              <a:bodyPr/>
              <a:lstStyle/>
              <a:p>
                <a:pPr>
                  <a:defRPr sz="1200" b="0" i="0" u="none" strike="noStrike">
                    <a:solidFill>
                      <a:srgbClr val="3B4A55"/>
                    </a:solidFill>
                    <a:latin typeface="+mn-lt"/>
                  </a:defRPr>
                </a:pPr>
                <a:r>
                  <a:rPr sz="1200" b="0" i="0" u="none" strike="noStrike">
                    <a:solidFill>
                      <a:srgbClr val="3B4A55"/>
                    </a:solidFill>
                    <a:latin typeface="+mn-lt"/>
                  </a:rPr>
                  <a:t>delay (ns)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B4A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D2B36"/>
                </a:solidFill>
                <a:latin typeface="+mn-lt"/>
              </a:defRPr>
            </a:pPr>
            <a:r>
              <a:rPr sz="1500" b="0" i="0" u="none" strike="noStrike">
                <a:solidFill>
                  <a:srgbClr val="1D2B36"/>
                </a:solidFill>
                <a:latin typeface="+mn-lt"/>
              </a:rPr>
              <a:t>Energy per conversion (pJ)</a:t>
            </a:r>
          </a:p>
        </c:rich>
      </c:tx>
      <c:layout/>
      <c:overlay val="0"/>
    </c:title>
    <c:autoTitleDeleted val="0"/>
    <c:plotArea>
      <c:layout/>
      <c:barChart>
        <c:barDir val="bar"/>
        <c:grouping val="clustered"/>
        <c:varyColors val="0"/>
        <c:ser>
          <c:idx val="0"/>
          <c:order val="0"/>
          <c:tx>
            <c:strRef>
              <c:f>Sheet1!$B$1</c:f>
              <c:strCache>
                <c:ptCount val="1"/>
                <c:pt idx="0">
                  <c:v>Energy per conversion</c:v>
                </c:pt>
              </c:strCache>
            </c:strRef>
          </c:tx>
          <c:spPr>
            <a:solidFill>
              <a:srgbClr val="3D7A8A"/>
            </a:solidFill>
            <a:effectLst/>
          </c:spPr>
          <c:invertIfNegative val="0"/>
          <c:dLbls>
            <c:numFmt formatCode="0.0" sourceLinked="0"/>
            <c:txPr>
              <a:bodyPr/>
              <a:lstStyle/>
              <a:p>
                <a:pPr>
                  <a:defRPr b="0" i="0" strike="noStrike" sz="1100" u="none">
                    <a:solidFill>
                      <a:srgbClr val="1D2B36"/>
                    </a:solidFill>
                    <a:latin typeface="+mn-lt"/>
                  </a:defRPr>
                </a:pPr>
              </a:p>
            </c:txPr>
            <c:showLegendKey val="0"/>
            <c:showVal val="1"/>
            <c:showCatName val="0"/>
            <c:showSerName val="0"/>
            <c:showPercent val="0"/>
            <c:showBubbleSize val="0"/>
            <c:showLeaderLines val="0"/>
          </c:dLbls>
          <c:dPt>
            <c:idx val="0"/>
            <c:invertIfNegative val="0"/>
            <c:bubble3D val="0"/>
            <c:spPr>
              <a:solidFill>
                <a:srgbClr val="3D7A8A"/>
              </a:solidFill>
              <a:effectLst/>
            </c:spPr>
          </c:dPt>
          <c:dPt>
            <c:idx val="1"/>
            <c:invertIfNegative val="0"/>
            <c:bubble3D val="0"/>
            <c:spPr>
              <a:solidFill>
                <a:srgbClr val="C8553D"/>
              </a:solidFill>
              <a:effectLst/>
            </c:spPr>
          </c:dPt>
          <c:dPt>
            <c:idx val="2"/>
            <c:invertIfNegative val="0"/>
            <c:bubble3D val="0"/>
            <c:spPr>
              <a:solidFill>
                <a:srgbClr val="C8553D"/>
              </a:solidFill>
              <a:effectLst/>
            </c:spPr>
          </c:dPt>
          <c:cat>
            <c:multiLvlStrRef>
              <c:f>Sheet1!$A$2:$A$4</c:f>
              <c:multiLvlStrCache>
                <c:ptCount val="3"/>
                <c:lvl>
                  <c:pt idx="0">
                    <c:v>Flash (50 ns)</c:v>
                  </c:pt>
                  <c:pt idx="1">
                    <c:v>SAR, 0.5× timing (1 µs)</c:v>
                  </c:pt>
                  <c:pt idx="2">
                    <c:v>SAR, my timing (2 µs)</c:v>
                  </c:pt>
                </c:lvl>
              </c:multiLvlStrCache>
            </c:multiLvlStrRef>
          </c:cat>
          <c:val>
            <c:numRef>
              <c:f>Sheet1!$B$2:$B$4</c:f>
              <c:numCache>
                <c:formatCode>General</c:formatCode>
                <c:ptCount val="3"/>
                <c:pt idx="0">
                  <c:v>6.4</c:v>
                </c:pt>
                <c:pt idx="1">
                  <c:v>24.1</c:v>
                </c:pt>
                <c:pt idx="2">
                  <c:v>44</c:v>
                </c:pt>
              </c:numCache>
            </c:numRef>
          </c:val>
        </c:ser>
        <c:dLbls>
          <c:numFmt formatCode="0.0" sourceLinked="0"/>
          <c:txPr>
            <a:bodyPr/>
            <a:lstStyle/>
            <a:p>
              <a:pPr>
                <a:defRPr b="0" i="0" strike="noStrike" sz="1100" u="none">
                  <a:solidFill>
                    <a:srgbClr val="1D2B36"/>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B4A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B4A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D2B36"/>
                </a:solidFill>
                <a:latin typeface="+mn-lt"/>
              </a:defRPr>
            </a:pPr>
            <a:r>
              <a:rPr sz="1500" b="0" i="0" u="none" strike="noStrike">
                <a:solidFill>
                  <a:srgbClr val="1D2B36"/>
                </a:solidFill>
                <a:latin typeface="+mn-lt"/>
              </a:rPr>
              <a:t>Chips with a missing code (%), VREF = 0.8 V</a:t>
            </a:r>
          </a:p>
        </c:rich>
      </c:tx>
      <c:layout/>
      <c:overlay val="0"/>
    </c:title>
    <c:autoTitleDeleted val="0"/>
    <c:plotArea>
      <c:layout/>
      <c:lineChart>
        <c:varyColors val="0"/>
        <c:ser>
          <c:idx val="0"/>
          <c:order val="0"/>
          <c:tx>
            <c:strRef>
              <c:f>Sheet1!$B$1</c:f>
              <c:strCache>
                <c:ptCount val="1"/>
                <c:pt idx="0">
                  <c:v>Flash, σ = 5.5 mV</c:v>
                </c:pt>
              </c:strCache>
            </c:strRef>
          </c:tx>
          <c:spPr>
            <a:solidFill>
              <a:srgbClr val="C8553D"/>
            </a:solidFill>
            <a:ln w="31750" cap="flat">
              <a:solidFill>
                <a:srgbClr val="C8553D"/>
              </a:solidFill>
              <a:prstDash val="solid"/>
              <a:round/>
            </a:ln>
            <a:effectLst/>
          </c:spPr>
          <c:invertIfNegative val="0"/>
          <c:dLbls>
            <c:numFmt formatCode="#,##0" sourceLinked="0"/>
            <c:txPr>
              <a:bodyPr/>
              <a:lstStyle/>
              <a:p>
                <a:pPr>
                  <a:defRPr b="0" i="0" strike="noStrike" sz="1100" u="none">
                    <a:solidFill>
                      <a:srgbClr val="1D2B36"/>
                    </a:solidFill>
                    <a:latin typeface="+mn-lt"/>
                  </a:defRPr>
                </a:pPr>
              </a:p>
            </c:txPr>
            <c:showLegendKey val="0"/>
            <c:showVal val="0"/>
            <c:showCatName val="0"/>
            <c:showSerName val="0"/>
            <c:showPercent val="0"/>
            <c:showBubbleSize val="0"/>
            <c:showLeaderLines val="0"/>
          </c:dLbls>
          <c:marker>
            <c:symbol val="circle"/>
            <c:size val="7"/>
            <c:spPr>
              <a:solidFill>
                <a:srgbClr val="C8553D"/>
              </a:solidFill>
              <a:ln w="9525" cap="flat">
                <a:solidFill>
                  <a:srgbClr val="C8553D"/>
                </a:solidFill>
                <a:prstDash val="solid"/>
                <a:round/>
              </a:ln>
              <a:effectLst/>
            </c:spPr>
          </c:marker>
          <c:cat>
            <c:multiLvlStrRef>
              <c:f>Sheet1!$A$2:$A$7</c:f>
              <c:multiLvlStrCache>
                <c:ptCount val="6"/>
                <c:lvl>
                  <c:pt idx="0">
                    <c:v>3</c:v>
                  </c:pt>
                  <c:pt idx="1">
                    <c:v>4</c:v>
                  </c:pt>
                  <c:pt idx="2">
                    <c:v>5</c:v>
                  </c:pt>
                  <c:pt idx="3">
                    <c:v>6</c:v>
                  </c:pt>
                  <c:pt idx="4">
                    <c:v>7</c:v>
                  </c:pt>
                  <c:pt idx="5">
                    <c:v>8</c:v>
                  </c:pt>
                </c:lvl>
              </c:multiLvlStrCache>
            </c:multiLvlStrRef>
          </c:cat>
          <c:val>
            <c:numRef>
              <c:f>Sheet1!$B$2:$B$7</c:f>
              <c:numCache>
                <c:formatCode>General</c:formatCode>
                <c:ptCount val="6"/>
                <c:pt idx="0">
                  <c:v>0</c:v>
                </c:pt>
                <c:pt idx="1">
                  <c:v>0</c:v>
                </c:pt>
                <c:pt idx="2">
                  <c:v>2</c:v>
                </c:pt>
                <c:pt idx="3">
                  <c:v>97.3</c:v>
                </c:pt>
                <c:pt idx="4">
                  <c:v>100</c:v>
                </c:pt>
                <c:pt idx="5">
                  <c:v>100</c:v>
                </c:pt>
              </c:numCache>
            </c:numRef>
          </c:val>
          <c:smooth val="0"/>
        </c:ser>
        <c:ser>
          <c:idx val="1"/>
          <c:order val="1"/>
          <c:tx>
            <c:strRef>
              <c:f>Sheet1!$C$1</c:f>
              <c:strCache>
                <c:ptCount val="1"/>
                <c:pt idx="0">
                  <c:v>SAR (offset only shifts codes)</c:v>
                </c:pt>
              </c:strCache>
            </c:strRef>
          </c:tx>
          <c:spPr>
            <a:solidFill>
              <a:srgbClr val="8A949C"/>
            </a:solidFill>
            <a:ln w="31750" cap="flat">
              <a:solidFill>
                <a:srgbClr val="8A949C"/>
              </a:solidFill>
              <a:prstDash val="solid"/>
              <a:round/>
            </a:ln>
            <a:effectLst/>
          </c:spPr>
          <c:invertIfNegative val="0"/>
          <c:dLbls>
            <c:numFmt formatCode="#,##0" sourceLinked="0"/>
            <c:txPr>
              <a:bodyPr/>
              <a:lstStyle/>
              <a:p>
                <a:pPr>
                  <a:defRPr b="0" i="0" strike="noStrike" sz="1100" u="none">
                    <a:solidFill>
                      <a:srgbClr val="1D2B36"/>
                    </a:solidFill>
                    <a:latin typeface="+mn-lt"/>
                  </a:defRPr>
                </a:pPr>
              </a:p>
            </c:txPr>
            <c:showLegendKey val="0"/>
            <c:showVal val="0"/>
            <c:showCatName val="0"/>
            <c:showSerName val="0"/>
            <c:showPercent val="0"/>
            <c:showBubbleSize val="0"/>
            <c:showLeaderLines val="0"/>
          </c:dLbls>
          <c:marker>
            <c:symbol val="circle"/>
            <c:size val="7"/>
            <c:spPr>
              <a:solidFill>
                <a:srgbClr val="8A949C"/>
              </a:solidFill>
              <a:ln w="9525" cap="flat">
                <a:solidFill>
                  <a:srgbClr val="8A949C"/>
                </a:solidFill>
                <a:prstDash val="solid"/>
                <a:round/>
              </a:ln>
              <a:effectLst/>
            </c:spPr>
          </c:marker>
          <c:cat>
            <c:multiLvlStrRef>
              <c:f>Sheet1!$A$2:$A$7</c:f>
              <c:multiLvlStrCache>
                <c:ptCount val="6"/>
                <c:lvl>
                  <c:pt idx="0">
                    <c:v>3</c:v>
                  </c:pt>
                  <c:pt idx="1">
                    <c:v>4</c:v>
                  </c:pt>
                  <c:pt idx="2">
                    <c:v>5</c:v>
                  </c:pt>
                  <c:pt idx="3">
                    <c:v>6</c:v>
                  </c:pt>
                  <c:pt idx="4">
                    <c:v>7</c:v>
                  </c:pt>
                  <c:pt idx="5">
                    <c:v>8</c:v>
                  </c:pt>
                </c:lvl>
              </c:multiLvlStrCache>
            </c:multiLvlStrRef>
          </c:cat>
          <c:val>
            <c:numRef>
              <c:f>Sheet1!$C$2:$C$7</c:f>
              <c:numCache>
                <c:formatCode>General</c:formatCode>
                <c:ptCount val="6"/>
                <c:pt idx="0">
                  <c:v>0</c:v>
                </c:pt>
                <c:pt idx="1">
                  <c:v>0</c:v>
                </c:pt>
                <c:pt idx="2">
                  <c:v>0</c:v>
                </c:pt>
                <c:pt idx="3">
                  <c:v>0</c:v>
                </c:pt>
                <c:pt idx="4">
                  <c:v>0</c:v>
                </c:pt>
                <c:pt idx="5">
                  <c:v>0</c:v>
                </c:pt>
              </c:numCache>
            </c:numRef>
          </c:val>
          <c:smooth val="0"/>
        </c:ser>
        <c:dLbls>
          <c:numFmt formatCode="#,##0" sourceLinked="0"/>
          <c:txPr>
            <a:bodyPr/>
            <a:lstStyle/>
            <a:p>
              <a:pPr>
                <a:defRPr b="0" i="0" strike="noStrike" sz="1100" u="none">
                  <a:solidFill>
                    <a:srgbClr val="1D2B3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3B4A55"/>
                    </a:solidFill>
                    <a:latin typeface="+mn-lt"/>
                  </a:defRPr>
                </a:pPr>
                <a:r>
                  <a:rPr sz="1200" b="0" i="0" u="none" strike="noStrike">
                    <a:solidFill>
                      <a:srgbClr val="3B4A55"/>
                    </a:solidFill>
                    <a:latin typeface="+mn-lt"/>
                  </a:rPr>
                  <a:t>resolution (bits)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B4A5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DEE2"/>
              </a:solidFill>
              <a:prstDash val="solid"/>
              <a:round/>
            </a:ln>
          </c:spPr>
        </c:majorGridlines>
        <c:title>
          <c:tx>
            <c:rich>
              <a:bodyPr/>
              <a:lstStyle/>
              <a:p>
                <a:pPr>
                  <a:defRPr sz="1200" b="0" i="0" u="none" strike="noStrike">
                    <a:solidFill>
                      <a:srgbClr val="3B4A55"/>
                    </a:solidFill>
                    <a:latin typeface="+mn-lt"/>
                  </a:defRPr>
                </a:pPr>
                <a:r>
                  <a:rPr sz="1200" b="0" i="0" u="none" strike="noStrike">
                    <a:solidFill>
                      <a:srgbClr val="3B4A55"/>
                    </a:solidFill>
                    <a:latin typeface="+mn-lt"/>
                  </a:rPr>
                  <a:t>% of chips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B4A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B4A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Just the title. Keep it short.
WHAT TO SAY: "Sir, since the last meeting I built every block of the readout chain at small scale in sky130: the comparator, the 4x4 array, the 2-column analog shift-add, and a 3-bit flash and a 3-bit SAR ADC. Today I'll go block by block, show hand calculation next to simulation for each, and then compare the two ADCs. I also have answers to the open questions from last time."
TIP: He has said many times "pen and paper first". So for every block, say the hand number first, then the simulated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whole meeting in five lines. If he only has five minutes, this is it.
HOW TO EXPLAIN IT:
1. Built and simulated: list the blocks. Don't explain them yet.
2. Hand vs simulation: tell him that from now on every block has a hand number next to the simulated one, because he asked for that.
3. Main finding: this is your "personal insight" slide later. The array gives 5 levels per column (needs 3 bits), but after shift-add with weights 1 and 2 there are 13 levels (needs 4 bits). Also, the array's column voltage only goes up to about 0.2 V while the ADC's full scale is 0.8 V. So the blocks don't fit together yet, and you found that yourself.
4. ADC comparison: flash wins at 3 bits, SAR wins once you need more bits. Say "for my 3-bit, 4-row case" — don't make a general claim.
5. Open questions: you have answers on slide 16.
LIKELY QUESTION: "So which ADC will you use?" Answer: SAR, because the chain needs 4+ bits after shift-add and SAR scales by one comparison per bit; flash would need 15 comparators at 4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full signal chain with real voltage numbers at each node. Last meeting sir asked "would you be able to tell me the voltage level in each column?" This slide answers it.
HOW TO EXPLAIN IT, LEFT TO RIGHT:
- Rows are driven at 0 V (input 0) or 0.4 V (input 1). A weight of 1 turns ON the read transistor in that cell.
- Each column line has a 250-ohm load resistor to ground, so the column is a resistor divider: VCL = sum(G x Vin) / (sum G + 1/RL). With 4 cells ON and all inputs 1, VCL = 0.4 x 4/(4+4) = 0.2 V using G = 1 mS. That is the maximum.
- The shift-add takes two columns and gives SUM = (IN0 + 2 x IN1)/3. It is a weighted average, so its output range is the same as its inputs: 0 to 0.2 V.
- The ADC is 3-bit with VREF = 0.8 V, so LSB = 100 mV.
THE KEY POINT (bottom box), say it clearly:
1. Range mismatch: the ADC's full scale is 4x bigger than what the column produces. Fix: either lower VREF to about 0.2 V or add gain (a TIA). This is why the TIA matters.
2. Resolution: 5 levels per column, but 13 levels after shift-add (0 to 12 = MAC0 + 2xMAC1), so the ADC after shift-add needs 4 bits.
3. Loading: because RL is not a virtual ground, the column voltage depends on how many cells are ON, not only on the MAC. A TIA (virtual ground) removes this.
LIKELY QUESTION: "How will you fix the range?" Answer: TIA with a feedback resistor sized so the maximum column current gives close to full scale, or reduce VREF to 0.2 V — but then the LSB is 25 mV and the comparator offset (about 5.5 mV) becomes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Sir asked to "justify the ADC resolution from the array". This is the pen-and-paper answer.
HOW TO EXPLAIN IT:
- With binary inputs and binary weights, a 4-row column's MAC can be 0, 1, 2, 3 or 4. That's 5 levels. 2 bits only give 4 codes, so you need 3 bits (8 codes, 3 unused).
- The 2-column shift-add weights column 1 by 2: the value is MAC0 + 2 x MAC1, so 0 to 12, which is 13 levels and needs 4 bits.
- With 4 columns weighted 1, 2, 4, 8 the range is 0 to 15 x 4 = 60, which is 61 levels and needs 6 bits.
- General rule: bits = ceil(log2(levels)). Each extra shift-add column doubles the range, so it adds one bit.
THE INSIGHT TO SAY OUT LOUD: "This is exactly the trade-off in the Jiang paper. Analog shift-add reduces the number of ADCs, but the ADC that remains needs more bits. So my 3-bit ADCs are right for one column, but after the shift-add I need a 4-bit ADC."
LIKELY QUESTION: "Why not just use the 3-bit ADC and lose the LSB?" Answer: then two different MAC results map to the same code, so the multiply-accumulate result is wrong by up to 1 unit of the LSB column. Whether that's acceptable depends on the neural network's tolerance; that's a later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4x4 SRAM array, with hand calculation vs simulation of the column voltages.
HOW THE ARRAY WORKS: Each cell is a 6T SRAM that stores the weight. Its Q node drives the gate of a read transistor that sits between the row input line and the column line. Weight 1 = transistor ON (a conductance G), weight 0 = OFF. The row input is 0.4 V for input 1 and 0 V for input 0. Each column has a 250-ohm resistor to ground.
THE FORMULA: Kirchhoff's current law at the column node: currents in from every ON cell = current out through RL. That gives VCL = sum(G x VRIN) / (sum G + 1/RL). Note: cells with weight 1 but input 0 still load the column (they connect it to a 0 V row), which is why the denominator has all ON cells.
HAND vs SIM: With G = 1 mS (1 kohm), the first pattern gives 67 mV for column 0 (1 cell active, 2 cells ON: 0.4 x 1/(2 + 4) = 67 mV). The simulation gives about 36 mV. Every value is about 55% of the hand value. If you solve the formula backwards from the simulated 36 mV, you get G about 0.44 mS, i.e. the read transistor is about 2.3 kohm when ON (its gate is only at VDD and its Vds is small but not zero). With 2.3 kohm, the hand values match the simulation within about 4%.
IMPORTANT, CHECK BEFORE THE MEETING: these simulated numbers are from my run with the sky130 tt models. Your TB_CIM_SRAM.sch prints v0_x1 ... v3_x3 in the ngspice window. If your numbers are different, replace the "Simulated" column with yours (it takes one minute).
LIKELY QUESTION: "How do you make the read transistor closer to 1 kohm?" Answer: make it wider (resistance goes down roughly as 1/W) or drive its gate higher. But a lower resistance also loads the row driver more. Or replace RL with a TIA so the column sits at virtual ground — then the output becomes linear in the 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2-column analog shift-add, and its pen-and-paper derivation.
WHY IT EXISTS: In bit-serial / bit-sliced CiM, column 1 holds a more significant weight bit than column 0, so its result must count twice. Instead of digitising both columns and shifting in digital, we combine them in analog with capacitors sized C and 2C, and use one ADC.
HOW IT WORKS:
- RST phase: the top plate (SUM) and both bottom plates are all connected to VREF. Both caps have 0 V across them, so zero charge.
- SHARE phase: RST switches open, the bottom plates are connected to IN0 and IN1. SUM is now floating, so the total charge on the SUM node must stay zero.
- Charge on C0 = C x (SUM - IN0), on C1 = 2C x (SUM - IN1). Their sum = 0 gives SUM = (IN0 + 2 x IN1)/3. Say "the bigger cap pulls SUM harder", that's the weighting.
SWITCHES: Each switch is a transmission gate (NMOS + PMOS in parallel) so it passes the full voltage range. RST and SHARE must never be on together, otherwise the inputs are shorted to VREF.
LAST TIME: SUM came out in microvolts because C3 was floating. Mention: "that was a floating capacitor node; it's fixed, and the next slide shows hand vs sim matching."
LIKELY QUESTION: "What sets the error?" Answer: charge injection and clock feedthrough from the switches when they turn off, plus the parasitic capacitance on SUM (here the 20 fF load). They're the 0.2 to 0.8% errors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timing diagram he asked for, with hand vs simulation.
HOW TO READ THE PLOT:
- Top two traces are the control signals. RST goes high first (reset), then SHARE goes high (combine). They never overlap.
- Bottom: grey line = IN0 (LSB column), dashed teal = IN1 (MSB column), orange = SUM.
- During RST, SUM is pulled to VREF (0 V in this testbench). During SHARE, SUM jumps to the weighted average. The circles are the hand values.
HAND vs SIM:
- Cycle 1: (1.2 + 2 x 0.9)/3 = 1.0 V; sim 0.993 V.
- Cycle 2: (0.9 + 2 x 1.2)/3 = 1.1 V; sim 1.092 V.
- Cycle 3: both 0.3 V gives 0.3 V; sim 0.298 V.
All within 1%. The small loss is the 20 fF load on SUM (charge divides between the 3 pF of caps and the load: 3/(3+0.02) is about 0.993, which matches cycle 1 almost exactly), plus charge injection from the switches.
NOTE: these input voltages (0.3 to 1.2 V) are test values. In the real chain the inputs come from the array and are 0 to 0.2 V, as on slide 3.
WHO GENERATES THE PULSES: say honestly that they're ideal sources in the testbench now; in a real macro they come from a small digital sequencer (counter + decoder), the same one that drives the SAR phases.
LIKELY QUESTION: "Why does SUM overshoot at the start of SHARE in cycle 1?" Answer: the bottom plate switches turn on in a few ns and the input sources are ideal, so there's a short transient while charge redistributes; it settles within about 20 ns, well before the end of the 100 ns SHARE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comparator that both ADCs use. Explain it in terms of currents, he always asks that.
HOW IT WORKS (left to right in the schematic):
- M7 is the tail current source (PMOS, long L = 8 um, gate tied to EN_N = 0 so it's ON). It feeds the input pair.
- M8/M9 are the PMOS input pair (low-Vt, 8 um / 2 um). PLUS goes to M8, MINUS to M9. Whichever gate is LOWER takes more of the tail current (PMOS conducts more when its gate is lower).
- M10/M11 are diode-connected NMOS loads. They turn each branch current into a gate voltage (G1, G2).
- Second stage: M12 copies the G2 current to the output pulling down; M17 and the PMOS mirror M15/M2 copy the G1 current to the output pulling up. The output goes high when PLUS &gt; MINUS.
- ADJ (M4/M5/M6/M3 on the left): adds a small extra current into node G1. That unbalances the first stage on purpose, which shifts the trip point. That is an offset trim.
- M13 pulls the output low when the comparator is disabled (EN_N = 1).
THE NUMBERS ON THE RIGHT:
- About 10 uA flows all the time (static), so about 18 uW at 1.8 V. This matters for energy later.
- Offset: at ADJ = 0.75 V the trip point is 5.4 mV below the reference.
- Delay: 37 ns with 10 mV overdrive, 12 ns with 200 mV. A smaller overdrive means a slower comparator, because it's a linear amplifier, not a latch.
- Random offset 5.5 mV: from the Monte Carlo in the backup (don't show it today).
LIKELY QUESTION: "Why not a latch comparator?" Answer: the latch (StrongARM, like my sense_amp) has no static current and decides faster, but it needs a clock and kicks back onto the inputs. For a first working ADC I used the continuous-time one; the latch is next, especially for the 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Two measurements of the comparator, both from DC/transient simulation.
LEFT CHART, offset vs ADJ: MINUS is held at 0.4 V and PLUS is swept; the offset is (trip point - 0.4 V). As ADJ goes from 0.6 V to 0.9 V, the offset goes from -55 mV to +54 mV, almost a straight line (about 0.36 mV per mV of ADJ). It crosses zero at about ADJ = 0.76 V. That's why all my testbenches use ADJ = 0.75 V. (My older testbenches had 0.9 V as a placeholder, which gives a +54 mV offset — half an LSB! — so the trim matters.)
RIGHT CHART, delay vs overdrive: PLUS steps from 0.3 V to (0.4 V + overdrive). Delay = time from the step to the output crossing 0.9 V. With 10 mV overdrive it takes 37 ns, with 200 mV only 12 ns. The comparator is a linear amplifier with limited slew, so a small input difference takes longer to drive the output all the way.
WHY IT MATTERS:
- Flash speed is set by this delay (worst case is a small overdrive).
- In the SAR, the comparator makes 3 decisions, and the last ones often have a small overdrive.
LIKELY QUESTION: "Is the ADJ value the same on every chip?" Answer: no. Random mismatch moves each comparator's offset by about 5.5 mV (1 sigma), so ADJ fixes the average offset, not each comparator's random part. For the SAR (one comparator) one trim fixes it; for the flash (7 comparators) one shared ADJ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3-bit flash ADC and its transfer curve.
HOW IT WORKS:
- 8 equal resistors (22.9 kohm each, poly) between VREF = 0.8 V and ground make 7 tap voltages: 0.1, 0.2 ... 0.7 V. Each tap is a threshold.
- 7 comparators compare VIN with each tap at the same time. If VIN = 0.35 V, the comparators at 0.1, 0.2 and 0.3 V output 1 and the rest 0. That's a thermometer code (1110000...).
- The encoder (NAND-NAND logic) converts the 7-bit thermometer code into 3-bit binary.
HOW TO READ THE PLOT:
- Left part (0 to 8 us): VIN steps to the middle of each code (0.05, 0.15 ... 0.75 V). The orange line is the output code x 100 mV, so it should sit 50 mV below VIN. It does, all 8 codes are right.
- Right part: a slow ramp from 0 to 0.8 V. The code climbs 0 to 7 in order with no missing codes. The table shows where each code changes: within 3.5 mV of ideal.
THE SMALL SPIKE AT 13 us: when VIN crosses 0.2 V, the code briefly shows 3 before settling at 2. That's an encoder glitch while the thermometer bit is in transition. A real flash latches its output on a clock edge after the comparators have settled, so it would never sample that glitch. Good to mention before he spots it.
HAND vs SIM: hand thresholds are k x 0.8/8 = k x 100 mV. The measured thresholds are 1.5 to 3.5 mV low, which is the comparator offset (about -5 mV static) partly cancelled by its delay on a moving ramp.
LIKELY QUESTION: "What limits the flash?" Answer: 2^N - 1 comparators. At 3 bits it's 7; at 6 bits it would be 63, each with its own random offset.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SAR ADC structure. Three parts.
1. COMPARATOR (same as before): compares VIN with REF. COM = 1 means VIN &gt; REF.
2. CAPACITIVE DAC (cdac3): binary-weighted caps 4C, 2C, C plus one dummy C, total 8C, all sharing one top plate called REF. During reset the top plate is grounded. Then each bottom plate is driven to VREF (bit = 1) or 0 (bit = 0) by an inverter. By charge conservation on the floating top plate: REF = VREF x (4 x D2 + 2 x D1 + D0)/8. So REF is the DAC output for the current bits. The dummy C makes the total 8C, so the weights are exactly 1/2, 1/4, 1/8 of VREF.
3. SAR LOGIC (sar_logic3_simple, the new gate-level version, 52 transistors instead of 92):
- Each bit is an SR latch made from two NOR gates. TRYi SETS the bit (trial 1). The reset input is RST OR (DECi AND NOT COM).
- So: RST clears all bits. In TRYi the bit is set to 1, REF goes up by that bit's weight. In DECi, if COM = 0 (VIN &lt; REF), the bit is cleared; if COM = 1 it stays.
- I didn't need a separate latch for COM, because during DECi the bit is still 1, so REF still holds the trial level and COM is still valid.
HAND CALCULATION: REF levels for trials are 0.4 V (D2), then 0.2 or 0.6 V (D1), then +/-0.1 V (D0). That's binary search.
LIKELY QUESTION: "Why does VIN go directly to the comparator? Where's the sampling?" Answer: in this version VIN is held constant by the testbench (ideal sample-and-hold). In a real chain I need a sampling switch and cap, or to sample VIN onto the CDAC itself (the classic charge-redistribution SAR). That's on the next-steps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SAR timing diagram he asked for, from simulation, for one conversion with VIN = 0.55 V.
HOW TO READ IT:
- Top: grey = VIN (0.55 V), orange = REF from the CDAC. Grey shaded bands are the TRY phases.
- Below: COM (comparator output), and the three bits D2, D1, D0.
STEP BY STEP (point at the plot):
1. RST (0 to 100 ns): all bits 0, REF = 0.
2. TRY2: D2 = 1, REF rises to 0.4 V. VIN 0.55 &gt; 0.4, COM stays 1, so at DEC2 D2 is kept.
3. TRY1: D1 = 1, REF rises to 0.6 V. Now VIN &lt; REF, COM falls to 0. At DEC1 (around 900 ns) D1 is cleared and REF drops back. COM goes back to 1.
4. TRY0: D0 = 1, REF = 0.5 V. VIN &gt; REF, so D0 is kept.
Result 101 = 5, and 5 x 100 mV = 0.5 V is the largest level below 0.55 V. Correct.
HAND vs SIM: the REF levels in the table (0.4, 0.6, 0.5 V) are the hand values from REF = VREF x code/8. The simulated REF reaches them within a few mV once settled.
WHO MAKES THE PHASES (he asked last time): be honest that today they are ideal pulse sources. All the edges are on a 50 ns grid inside a 2 us conversion, so a 6-bit counter (0 to 39) clocked at 20 MHz with a decoder can generate them. That's the plan.
SPEED: REF takes about 200 ns to settle each time (you can see the slow rise), because the DAC drivers charge 8 pF from 0.8 V. I ran the same test with all phases scaled down: 0.5x (1 us per conversion) still works, 0.3x gives wrong codes because REF hasn't settled when the comparator decides.
LIKELY QUESTION: "Why so slow?" Answer: the caps are 1 pF per unit, which is much bigger than 3 bits needs. Smaller caps or stronger drivers would make REF settle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comparison he expects, on every front, all from my own simulations. Keep the statement narrow: "for my 3-bit design with this comparator".
GO ROW BY ROW, briefly:
- Latency: flash needs one comparator delay plus the encoder, 50 ns worst case. SAR needs reset + 3 trial/decide steps: 1.45 us at my timing. I tested 16 inputs, each 25 mV (a quarter LSB) from a threshold.
- Rate: about 1/latency.
- Power: flash has 7 comparators that each draw about 18 uW all the time, so 128 uW. SAR has one comparator plus the DAC, about 22-24 uW.
- Energy per conversion = average power x conversion time. Flash: 128 uW x 50 ns = 6.4 pJ. SAR: 22 uW x 2 us = 44 pJ. So even though flash uses more power, it finishes 20x sooner, so it uses LESS energy per conversion. This surprises people; explain it.
- Comparators and transistors: 7 vs 1. Gate area is mostly the comparators (long-L transistors).
- Passives: my SAR caps are 1 pF each (8 pF total, 4000 um2), much bigger than 3 bits needs. That's why "as drawn" — shrinking them is easy.
- Column loading: flash puts 7 comparator inputs on the column (206 fF), SAR only one (36 fF).
- DNL: in flash, each comparator has its own random offset, so step widths vary. In SAR, one comparator makes all decisions, so its offset shifts all codes equally — that's an offset, not nonlinearity.
- Extra blocks: SAR needs a sample-and-hold and a sequencer, which I haven't built.
HOW I MEASURED ENERGY: average of (1.8 V x I(VCC) + 0.8 V x I(VREF)) over the conversion, times the conversion time.
LIKELY QUESTION: "Is energy per conversion a fair comparison?" Answer: yes, more fair than power, because the two run at different speeds. Power alone would say SAR is 5x better, which is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energy result as a picture, because it's the least obvious one.
HOW TO EXPLAIN IT:
- Each bar is the energy for one conversion.
- Flash: 6.4 pJ. SAR: 44 pJ at my 2 us timing, 24 pJ when I run it twice as fast.
- Why SAR costs more: my comparator is continuous-time; it draws about 10 uA ALL the time. Energy = power x time. The SAR takes 20-40x longer, so its single comparator burns more energy than the flash's 7 comparators do in 50 ns.
- So in this design the SAR's energy is set by how long the conversion takes, not by how many comparisons it makes.
THE FIX TO MENTION: use a clocked latch comparator (StrongARM type, like my sense_amp). It only draws current when it decides, so the SAR would pay for 3 decisions (a few fJ to tens of fJ each) plus the CDAC switching. Then SAR should win on energy too. That's why most CiM papers use a latch comparator in the SAR.
LIKELY QUESTION: "How much is the CDAC energy?" Answer: about 6 to 9 pJ per conversion at 2 us, roughly C_total x VREF^2 order of magnitude (8 pF x 0.64 V^2 = 5 pJ, plus driver losses). Shrinking the caps reduces it proportionally.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The conclusion of the comparison, tied back to the chain. This connects your ADC work to the paper's architecture (analog shift-add + SAR), which is what sir wants you to focus on.
HOW TO SAY IT:
"At 3 bits, flash is the better ADC in my simulations: faster and even lower energy per conversion. But my chain doesn't need a 3-bit ADC after shift-add: it needs 4 bits for 2 columns and 6 for 4 columns. Flash cost doubles with every bit, 2^N - 1 comparators, and each has its own random offset. SAR adds one comparison per bit and uses one comparator. So for the shift-add chain, SAR is the right ADC, which matches the paper's choice."
LEFT BOX (flash): small bit counts, very fast, and a nice CiM trick: since the thresholds are just ladder taps, you can space them non-uniformly to match how column sums are distributed (most sums are small).
RIGHT BOX (SAR): high bit counts, small area per ADC, light loading on the column, one comparator so one trim fixes the offset.
THE MONTE CARLO REMARK: you mention "my Monte Carlo predicts missing codes from 5 bits" — it's in the backup if he asks, but you don't need to show it.
LIKELY QUESTION: "Then why did you build the flash?" Answer: as the reference point. It shows what speed is possible, and the comparison tells me exactly what the SAR must improve: settle time and comparator static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Answers to the questions sir left open. Say them in your own words; he cares that you understand the reason, not the sentence.
1. TIA NEGATIVE OUTPUT: In an inverting transimpedance amplifier the + input is at 0 V, and negative feedback makes the - input also sit at about 0 V (virtual ground). The column current arrives at that node. No current goes into the op-amp input, so all of it must flow through the feedback resistor Rf toward the output. Current flowing from the 0 V node toward the output through Rf means the output is BELOW 0 V: Vout = -I x Rf. If you want a positive output, use a current that flows out of the node, or add an inverting stage, or reference the + input to a mid-supply voltage.
2. SWAPPED INPUTS: With the inputs swapped, the feedback resistor connects the output to the + input. Now if the output rises a little, the + input rises, which makes the output rise more: positive feedback. The circuit has no stable linear point, the output slams to a supply rail and stays there (it behaves like a Schmitt trigger / latch).
3. NEGATIVE WEIGHTS: A transistor or ReRAM cell can only conduct current one way for a given bias, so one column can't hold a negative weight. Standard fix: two columns, one for positive weights and one for negative. Digitise both and subtract, or subtract in analog: in the shift-add, the W- column's cap is driven around VREF the opposite way, so its charge subtracts.
4. PULSES: Explain that the timing is on a 50 ns grid, so one counter + decoder is enough. The same counter can drive both the shift-add and the SAR.
IF HE PUSHES ON THE TIA: be honest that the array currently uses a 250-ohm load resistor, not a TIA, and that building the TIA is the next step (slide 3 showed why it's needed: range and linearity).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Progress against the revised milestone plan, and what comes next. He criticised last time that the plan wasn't updated after feedback, so show you're tracking it.
HOW TO EXPLAIN IT:
- Go down the table quickly. Green = done, orange = partly done, grey = not started.
- Be honest about the TIA: answered on paper, not built. And the latch comparator: the sense amp exists but isn't characterised inside the SAR yet.
NEXT STEPS, in order and why:
1. TIA first, because slide 3 showed the range and linearity problem comes from the plain load resistor.
2. 4-bit SAR, because the shift-add output needs 4 bits. Use the latch comparator (energy) and smaller caps (speed).
3. Sample-and-hold and the sequencer, so the SAR no longer depends on ideal sources.
4. Then connect everything and check that the output code equals the expected MAC for several input patterns. That end-to-end check is what he asked for.
CLOSE WITH: "If you agree, I'll focus the next two weeks on the TIA and the 4-bit SAR, and bring the full chain to the next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 You said you won't show this today. Stop the presentation at the previous slide.
Only come here if he asks something like "what about mismatch?" or "how do you know the flash fails at higher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(backup): The mismatch Monte Carlo of the flash ADC you ran yourself: 100 random chips with sky130's mismatch models (tt_mm corner).
HOW TO READ THE PLOT: Each column of dots is one comparator (T1 to T7). Each dot is one chip's threshold error. The black line is the average. The grey band is +/- half an LSB (+/-50 mV). All dots are well inside it, so at 3 bits mismatch is not a problem.
THE NUMBERS:
- Each comparator's threshold varies by about 5.5 mV (1 sigma).
- DNL: step widths vary by 0.078 LSB (1 sigma), worst 0.29 LSB. No missing codes in 100 chips.
- The average threshold error in this run was +51 mV, because this testbench still had ADJ = 0.9 V. That's the trim, not mismatch; I removed it in the plot.
HAND CHECK: Pelgrom's law: sigma(Vth) = A_VT / sqrt(W x L). The input pair is 8 um x 2 um (16 um2), A_VT for the LVT PMOS is about 13.9 mV.um, so about 3.5 mV per transistor, 4.9 mV for the pair; the NMOS load adds about 2.7 mV. Combined about 5.6 mV. The Monte Carlo gave 5.5 mV. That's the "pen and paper first, simulator confirms" story.
SAR: one comparator, so its 5.5 mV offset moves all thresholds together: an offset, not DNL. I haven't run a SAR Monte Carlo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(backup): Projection from the measured 5.5 mV offset to higher resolution. For each bit count I generated 50,000 random flash ADCs with independent comparator offsets and counted how many have at least one missing code.
HOW TO READ IT:
- Up to 4 bits: no missing codes.
- 5 bits (LSB 25 mV): about 2% of chips miss a code.
- 6 bits (LSB 12.5 mV): about 97% do. The LSB is now only about 2 sigma of the offset, so neighbouring thresholds often swap order.
- SAR: one comparator, its offset just shifts every code by the same amount, so no missing codes from the comparator. (CDAC mismatch would be the SAR's limit, and with 1 pF unit caps it's tiny.)
TABLE: the flash's comparator count doubles each bit (2^N - 1), and so does its static power with my comparator (18 uW each). The SAR just makes one more decision per bit.
WHY IT MATTERS FOR THE PROJECT: after 4-column shift-add the ADC needs 6 bits (slide 4). A flash there would need 63 trimmed comparators. That's the quantitative reason the chain uses a 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960120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840480"/>
            <a:ext cx="9601200" cy="146304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4" name="Text 0"/>
          <p:cNvSpPr/>
          <p:nvPr/>
        </p:nvSpPr>
        <p:spPr>
          <a:xfrm>
            <a:off x="548640" y="6473952"/>
            <a:ext cx="5486400" cy="228600"/>
          </a:xfrm>
          <a:prstGeom prst="rect">
            <a:avLst/>
          </a:prstGeom>
          <a:noFill/>
          <a:ln/>
        </p:spPr>
        <p:txBody>
          <a:bodyPr wrap="square" lIns="0" tIns="0" rIns="0" bIns="0" rtlCol="0" anchor="ctr"/>
          <a:lstStyle/>
          <a:p>
            <a:pPr indent="0" marL="0">
              <a:buNone/>
            </a:pPr>
            <a:r>
              <a:rPr lang="en-US" sz="1000" dirty="0">
                <a:solidFill>
                  <a:schemeClr val="accent3"/>
                </a:solidFill>
              </a:rPr>
              <a:t>Siddhartha Agarwal  ·  ADC for CiM  ·  29 Oct 2026</a:t>
            </a:r>
            <a:endParaRPr lang="en-US" sz="10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058400" cy="109728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3611880"/>
            <a:ext cx="10058400" cy="109728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9601200"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ADC for a Compute-in-Memory block</a:t>
            </a:r>
            <a:endParaRPr lang="en-US" sz="4000" dirty="0"/>
          </a:p>
        </p:txBody>
      </p:sp>
      <p:sp>
        <p:nvSpPr>
          <p:cNvPr id="3" name="Text 0"/>
          <p:cNvSpPr/>
          <p:nvPr>
            <p:ph idx="101" type="body" hasCustomPrompt="1"/>
          </p:nvPr>
        </p:nvSpPr>
        <p:spPr>
          <a:xfrm>
            <a:off x="548640" y="3840480"/>
            <a:ext cx="9601200" cy="1463040"/>
          </a:xfrm>
          <a:prstGeom prst="rect">
            <a:avLst/>
          </a:prstGeom>
          <a:noFill/>
          <a:ln/>
        </p:spPr>
        <p:txBody>
          <a:bodyPr wrap="square" lIns="0" tIns="0" rIns="0" bIns="0" rtlCol="0" anchor="t"/>
          <a:lstStyle/>
          <a:p>
            <a:pPr indent="0" marL="0">
              <a:buNone/>
            </a:pPr>
            <a:r>
              <a:rPr lang="en-US" sz="1800" dirty="0">
                <a:solidFill>
                  <a:schemeClr val="accent4"/>
                </a:solidFill>
              </a:rPr>
              <a:t>Progress review: comparator, 4×4 array, analog shift-add, flash and SAR ADC</a:t>
            </a:r>
            <a:endParaRPr lang="en-US" sz="1800" dirty="0"/>
          </a:p>
          <a:p>
            <a:pPr indent="0" marL="0">
              <a:buNone/>
            </a:pPr>
            <a:r>
              <a:rPr lang="en-US" sz="1400" dirty="0">
                <a:solidFill>
                  <a:schemeClr val="accent3"/>
                </a:solidFill>
              </a:rPr>
              <a:t>Siddhartha Agarwal  ·  Project course under Prof. Tarun Kumar Agarwal  ·  29 Oct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SINCE LAST MEETING</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Every block of the chain now works on its own, at 3-bit, 4-row scale</a:t>
            </a:r>
            <a:endParaRPr lang="en-US" sz="2800" dirty="0"/>
          </a:p>
        </p:txBody>
      </p:sp>
      <p:sp>
        <p:nvSpPr>
          <p:cNvPr id="4" name="Text 2"/>
          <p:cNvSpPr txBox="1"/>
          <p:nvPr/>
        </p:nvSpPr>
        <p:spPr>
          <a:xfrm>
            <a:off x="548640" y="1600200"/>
            <a:ext cx="457200" cy="548640"/>
          </a:xfrm>
          <a:prstGeom prst="rect">
            <a:avLst/>
          </a:prstGeom>
          <a:noFill/>
          <a:ln/>
        </p:spPr>
        <p:txBody>
          <a:bodyPr wrap="square" lIns="0" tIns="0" rIns="0" bIns="0" rtlCol="0" anchor="t"/>
          <a:lstStyle/>
          <a:p>
            <a:pPr indent="0" marL="0">
              <a:spcAft>
                <a:spcPts val="600"/>
              </a:spcAft>
              <a:buNone/>
            </a:pPr>
            <a:r>
              <a:rPr lang="en-US" sz="3000" b="1" dirty="0">
                <a:solidFill>
                  <a:schemeClr val="accent1"/>
                </a:solidFill>
                <a:latin typeface="Cambria" pitchFamily="34" charset="0"/>
                <a:ea typeface="Cambria" pitchFamily="34" charset="-122"/>
                <a:cs typeface="Cambria" pitchFamily="34" charset="-120"/>
              </a:rPr>
              <a:t>1</a:t>
            </a:r>
            <a:endParaRPr lang="en-US" sz="3000" dirty="0"/>
          </a:p>
        </p:txBody>
      </p:sp>
      <p:sp>
        <p:nvSpPr>
          <p:cNvPr id="5" name="Text 3"/>
          <p:cNvSpPr txBox="1"/>
          <p:nvPr/>
        </p:nvSpPr>
        <p:spPr>
          <a:xfrm>
            <a:off x="1188720" y="1627632"/>
            <a:ext cx="2926080" cy="6400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Built and simulated</a:t>
            </a:r>
            <a:endParaRPr lang="en-US" sz="1700" dirty="0"/>
          </a:p>
        </p:txBody>
      </p:sp>
      <p:sp>
        <p:nvSpPr>
          <p:cNvPr id="6" name="Text 4"/>
          <p:cNvSpPr txBox="1"/>
          <p:nvPr/>
        </p:nvSpPr>
        <p:spPr>
          <a:xfrm>
            <a:off x="4206240" y="1627632"/>
            <a:ext cx="7406640" cy="73152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Comparator (offset trim, delay), 4×4 SRAM array, 2-column shift-add, 3-bit flash ADC, 3-bit SAR ADC (gate-level logic)</a:t>
            </a:r>
            <a:endParaRPr lang="en-US" sz="1600" dirty="0"/>
          </a:p>
        </p:txBody>
      </p:sp>
      <p:sp>
        <p:nvSpPr>
          <p:cNvPr id="7" name="Text 5"/>
          <p:cNvSpPr txBox="1"/>
          <p:nvPr/>
        </p:nvSpPr>
        <p:spPr>
          <a:xfrm>
            <a:off x="548640" y="2468880"/>
            <a:ext cx="457200" cy="548640"/>
          </a:xfrm>
          <a:prstGeom prst="rect">
            <a:avLst/>
          </a:prstGeom>
          <a:noFill/>
          <a:ln/>
        </p:spPr>
        <p:txBody>
          <a:bodyPr wrap="square" lIns="0" tIns="0" rIns="0" bIns="0" rtlCol="0" anchor="t"/>
          <a:lstStyle/>
          <a:p>
            <a:pPr indent="0" marL="0">
              <a:spcAft>
                <a:spcPts val="600"/>
              </a:spcAft>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8" name="Text 6"/>
          <p:cNvSpPr txBox="1"/>
          <p:nvPr/>
        </p:nvSpPr>
        <p:spPr>
          <a:xfrm>
            <a:off x="1188720" y="2496312"/>
            <a:ext cx="2926080" cy="6400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Hand vs simulation</a:t>
            </a:r>
            <a:endParaRPr lang="en-US" sz="1700" dirty="0"/>
          </a:p>
        </p:txBody>
      </p:sp>
      <p:sp>
        <p:nvSpPr>
          <p:cNvPr id="9" name="Text 7"/>
          <p:cNvSpPr txBox="1"/>
          <p:nvPr/>
        </p:nvSpPr>
        <p:spPr>
          <a:xfrm>
            <a:off x="4206240" y="2496312"/>
            <a:ext cx="7406640" cy="73152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Shown for the array, the shift-add and both ADCs; the gaps are explained</a:t>
            </a:r>
            <a:endParaRPr lang="en-US" sz="1600" dirty="0"/>
          </a:p>
        </p:txBody>
      </p:sp>
      <p:sp>
        <p:nvSpPr>
          <p:cNvPr id="10" name="Text 8"/>
          <p:cNvSpPr txBox="1"/>
          <p:nvPr/>
        </p:nvSpPr>
        <p:spPr>
          <a:xfrm>
            <a:off x="548640" y="3337560"/>
            <a:ext cx="457200" cy="548640"/>
          </a:xfrm>
          <a:prstGeom prst="rect">
            <a:avLst/>
          </a:prstGeom>
          <a:noFill/>
          <a:ln/>
        </p:spPr>
        <p:txBody>
          <a:bodyPr wrap="square" lIns="0" tIns="0" rIns="0" bIns="0" rtlCol="0" anchor="t"/>
          <a:lstStyle/>
          <a:p>
            <a:pPr indent="0" marL="0">
              <a:spcAft>
                <a:spcPts val="600"/>
              </a:spcAft>
              <a:buNone/>
            </a:pPr>
            <a:r>
              <a:rPr lang="en-US" sz="3000" b="1" dirty="0">
                <a:solidFill>
                  <a:schemeClr val="accent1"/>
                </a:solidFill>
                <a:latin typeface="Cambria" pitchFamily="34" charset="0"/>
                <a:ea typeface="Cambria" pitchFamily="34" charset="-122"/>
                <a:cs typeface="Cambria" pitchFamily="34" charset="-120"/>
              </a:rPr>
              <a:t>3</a:t>
            </a:r>
            <a:endParaRPr lang="en-US" sz="3000" dirty="0"/>
          </a:p>
        </p:txBody>
      </p:sp>
      <p:sp>
        <p:nvSpPr>
          <p:cNvPr id="11" name="Text 9"/>
          <p:cNvSpPr txBox="1"/>
          <p:nvPr/>
        </p:nvSpPr>
        <p:spPr>
          <a:xfrm>
            <a:off x="1188720" y="3364992"/>
            <a:ext cx="2926080" cy="6400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Main finding</a:t>
            </a:r>
            <a:endParaRPr lang="en-US" sz="1700" dirty="0"/>
          </a:p>
        </p:txBody>
      </p:sp>
      <p:sp>
        <p:nvSpPr>
          <p:cNvPr id="12" name="Text 10"/>
          <p:cNvSpPr txBox="1"/>
          <p:nvPr/>
        </p:nvSpPr>
        <p:spPr>
          <a:xfrm>
            <a:off x="4206240" y="3364992"/>
            <a:ext cx="7406640" cy="73152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After 2-column shift-add the column needs 4 bits, and the array only swings 0–0.2 V, but my ADCs are 3-bit with 0.8 V full scale</a:t>
            </a:r>
            <a:endParaRPr lang="en-US" sz="1600" dirty="0"/>
          </a:p>
        </p:txBody>
      </p:sp>
      <p:sp>
        <p:nvSpPr>
          <p:cNvPr id="13" name="Text 11"/>
          <p:cNvSpPr txBox="1"/>
          <p:nvPr/>
        </p:nvSpPr>
        <p:spPr>
          <a:xfrm>
            <a:off x="548640" y="4206240"/>
            <a:ext cx="457200" cy="548640"/>
          </a:xfrm>
          <a:prstGeom prst="rect">
            <a:avLst/>
          </a:prstGeom>
          <a:noFill/>
          <a:ln/>
        </p:spPr>
        <p:txBody>
          <a:bodyPr wrap="square" lIns="0" tIns="0" rIns="0" bIns="0" rtlCol="0" anchor="t"/>
          <a:lstStyle/>
          <a:p>
            <a:pPr indent="0" marL="0">
              <a:spcAft>
                <a:spcPts val="600"/>
              </a:spcAft>
              <a:buNone/>
            </a:pPr>
            <a:r>
              <a:rPr lang="en-US" sz="3000" b="1" dirty="0">
                <a:solidFill>
                  <a:schemeClr val="accent1"/>
                </a:solidFill>
                <a:latin typeface="Cambria" pitchFamily="34" charset="0"/>
                <a:ea typeface="Cambria" pitchFamily="34" charset="-122"/>
                <a:cs typeface="Cambria" pitchFamily="34" charset="-120"/>
              </a:rPr>
              <a:t>4</a:t>
            </a:r>
            <a:endParaRPr lang="en-US" sz="3000" dirty="0"/>
          </a:p>
        </p:txBody>
      </p:sp>
      <p:sp>
        <p:nvSpPr>
          <p:cNvPr id="14" name="Text 12"/>
          <p:cNvSpPr txBox="1"/>
          <p:nvPr/>
        </p:nvSpPr>
        <p:spPr>
          <a:xfrm>
            <a:off x="1188720" y="4233672"/>
            <a:ext cx="2926080" cy="6400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ADC comparison</a:t>
            </a:r>
            <a:endParaRPr lang="en-US" sz="1700" dirty="0"/>
          </a:p>
        </p:txBody>
      </p:sp>
      <p:sp>
        <p:nvSpPr>
          <p:cNvPr id="15" name="Text 13"/>
          <p:cNvSpPr txBox="1"/>
          <p:nvPr/>
        </p:nvSpPr>
        <p:spPr>
          <a:xfrm>
            <a:off x="4206240" y="4233672"/>
            <a:ext cx="7406640" cy="73152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At 3 bits flash is 20× faster and uses less energy per conversion; SAR is the one that scales to the 4+ bits the chain needs</a:t>
            </a:r>
            <a:endParaRPr lang="en-US" sz="1600" dirty="0"/>
          </a:p>
        </p:txBody>
      </p:sp>
      <p:sp>
        <p:nvSpPr>
          <p:cNvPr id="16" name="Text 14"/>
          <p:cNvSpPr txBox="1"/>
          <p:nvPr/>
        </p:nvSpPr>
        <p:spPr>
          <a:xfrm>
            <a:off x="548640" y="5074920"/>
            <a:ext cx="457200" cy="548640"/>
          </a:xfrm>
          <a:prstGeom prst="rect">
            <a:avLst/>
          </a:prstGeom>
          <a:noFill/>
          <a:ln/>
        </p:spPr>
        <p:txBody>
          <a:bodyPr wrap="square" lIns="0" tIns="0" rIns="0" bIns="0" rtlCol="0" anchor="t"/>
          <a:lstStyle/>
          <a:p>
            <a:pPr indent="0" marL="0">
              <a:spcAft>
                <a:spcPts val="600"/>
              </a:spcAft>
              <a:buNone/>
            </a:pPr>
            <a:r>
              <a:rPr lang="en-US" sz="3000" b="1" dirty="0">
                <a:solidFill>
                  <a:schemeClr val="accent1"/>
                </a:solidFill>
                <a:latin typeface="Cambria" pitchFamily="34" charset="0"/>
                <a:ea typeface="Cambria" pitchFamily="34" charset="-122"/>
                <a:cs typeface="Cambria" pitchFamily="34" charset="-120"/>
              </a:rPr>
              <a:t>5</a:t>
            </a:r>
            <a:endParaRPr lang="en-US" sz="3000" dirty="0"/>
          </a:p>
        </p:txBody>
      </p:sp>
      <p:sp>
        <p:nvSpPr>
          <p:cNvPr id="17" name="Text 15"/>
          <p:cNvSpPr txBox="1"/>
          <p:nvPr/>
        </p:nvSpPr>
        <p:spPr>
          <a:xfrm>
            <a:off x="1188720" y="5102352"/>
            <a:ext cx="2926080" cy="6400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Open questions</a:t>
            </a:r>
            <a:endParaRPr lang="en-US" sz="1700" dirty="0"/>
          </a:p>
        </p:txBody>
      </p:sp>
      <p:sp>
        <p:nvSpPr>
          <p:cNvPr id="18" name="Text 16"/>
          <p:cNvSpPr txBox="1"/>
          <p:nvPr/>
        </p:nvSpPr>
        <p:spPr>
          <a:xfrm>
            <a:off x="4206240" y="5102352"/>
            <a:ext cx="7406640" cy="73152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TIA sign, negative weights, who generates the switch pulses: answered on one slide</a:t>
            </a:r>
            <a:endParaRPr lang="en-US" sz="16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THE CHAIN, WITH VOLTAGES</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One column path, from input row to output code</a:t>
            </a:r>
            <a:endParaRPr lang="en-US" sz="2800" dirty="0"/>
          </a:p>
        </p:txBody>
      </p:sp>
      <p:sp>
        <p:nvSpPr>
          <p:cNvPr id="4" name="chain-0"/>
          <p:cNvSpPr/>
          <p:nvPr/>
        </p:nvSpPr>
        <p:spPr>
          <a:xfrm>
            <a:off x="548640" y="2011680"/>
            <a:ext cx="1874520" cy="1417320"/>
          </a:xfrm>
          <a:prstGeom prst="roundRect">
            <a:avLst>
              <a:gd name="adj" fmla="val 5161"/>
            </a:avLst>
          </a:prstGeom>
          <a:solidFill>
            <a:schemeClr val="bg2"/>
          </a:solidFill>
          <a:ln w="12700">
            <a:solidFill>
              <a:schemeClr val="accent4"/>
            </a:solidFill>
            <a:prstDash val="solid"/>
          </a:ln>
        </p:spPr>
      </p:sp>
      <p:sp>
        <p:nvSpPr>
          <p:cNvPr id="5" name="Text 3"/>
          <p:cNvSpPr txBox="1"/>
          <p:nvPr/>
        </p:nvSpPr>
        <p:spPr>
          <a:xfrm>
            <a:off x="685800" y="2176272"/>
            <a:ext cx="1600200" cy="3657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4×4 SRAM array</a:t>
            </a:r>
            <a:endParaRPr lang="en-US" sz="1600" dirty="0"/>
          </a:p>
        </p:txBody>
      </p:sp>
      <p:sp>
        <p:nvSpPr>
          <p:cNvPr id="6" name="Text 4"/>
          <p:cNvSpPr txBox="1"/>
          <p:nvPr/>
        </p:nvSpPr>
        <p:spPr>
          <a:xfrm>
            <a:off x="685800" y="2606040"/>
            <a:ext cx="1600200" cy="77724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rows driven at 0 / 0.4 V</a:t>
            </a:r>
            <a:endParaRPr lang="en-US" sz="1300" dirty="0"/>
          </a:p>
          <a:p>
            <a:pPr indent="0" marL="0">
              <a:spcAft>
                <a:spcPts val="600"/>
              </a:spcAft>
              <a:buNone/>
            </a:pPr>
            <a:r>
              <a:rPr lang="en-US" sz="1300" dirty="0">
                <a:solidFill>
                  <a:schemeClr val="tx2"/>
                </a:solidFill>
              </a:rPr>
              <a:t>weights 0 / 1 in 6T cells</a:t>
            </a:r>
            <a:endParaRPr lang="en-US" sz="1300" dirty="0"/>
          </a:p>
        </p:txBody>
      </p:sp>
      <p:sp>
        <p:nvSpPr>
          <p:cNvPr id="7" name="arrow-0"/>
          <p:cNvSpPr/>
          <p:nvPr/>
        </p:nvSpPr>
        <p:spPr>
          <a:xfrm>
            <a:off x="2478024" y="2720340"/>
            <a:ext cx="274320" cy="0"/>
          </a:xfrm>
          <a:prstGeom prst="line">
            <a:avLst/>
          </a:prstGeom>
          <a:noFill/>
          <a:ln w="19050">
            <a:solidFill>
              <a:schemeClr val="accent3"/>
            </a:solidFill>
            <a:prstDash val="solid"/>
            <a:tailEnd type="triangle"/>
          </a:ln>
        </p:spPr>
      </p:sp>
      <p:sp>
        <p:nvSpPr>
          <p:cNvPr id="8" name="chain-1"/>
          <p:cNvSpPr/>
          <p:nvPr/>
        </p:nvSpPr>
        <p:spPr>
          <a:xfrm>
            <a:off x="2807208" y="2011680"/>
            <a:ext cx="1874520" cy="1417320"/>
          </a:xfrm>
          <a:prstGeom prst="roundRect">
            <a:avLst>
              <a:gd name="adj" fmla="val 5161"/>
            </a:avLst>
          </a:prstGeom>
          <a:solidFill>
            <a:schemeClr val="bg2"/>
          </a:solidFill>
          <a:ln w="12700">
            <a:solidFill>
              <a:schemeClr val="accent4"/>
            </a:solidFill>
            <a:prstDash val="solid"/>
          </a:ln>
        </p:spPr>
      </p:sp>
      <p:sp>
        <p:nvSpPr>
          <p:cNvPr id="9" name="Text 7"/>
          <p:cNvSpPr txBox="1"/>
          <p:nvPr/>
        </p:nvSpPr>
        <p:spPr>
          <a:xfrm>
            <a:off x="2944368" y="2176272"/>
            <a:ext cx="1600200" cy="3657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Column line</a:t>
            </a:r>
            <a:endParaRPr lang="en-US" sz="1600" dirty="0"/>
          </a:p>
        </p:txBody>
      </p:sp>
      <p:sp>
        <p:nvSpPr>
          <p:cNvPr id="10" name="Text 8"/>
          <p:cNvSpPr txBox="1"/>
          <p:nvPr/>
        </p:nvSpPr>
        <p:spPr>
          <a:xfrm>
            <a:off x="2944368" y="2606040"/>
            <a:ext cx="1600200" cy="77724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load RL = 250 Ω</a:t>
            </a:r>
            <a:endParaRPr lang="en-US" sz="1300" dirty="0"/>
          </a:p>
          <a:p>
            <a:pPr indent="0" marL="0">
              <a:spcAft>
                <a:spcPts val="600"/>
              </a:spcAft>
              <a:buNone/>
            </a:pPr>
            <a:r>
              <a:rPr lang="en-US" sz="1300" dirty="0">
                <a:solidFill>
                  <a:schemeClr val="tx2"/>
                </a:solidFill>
              </a:rPr>
              <a:t>VCL = 0 … 0.2 V</a:t>
            </a:r>
            <a:endParaRPr lang="en-US" sz="1300" dirty="0"/>
          </a:p>
        </p:txBody>
      </p:sp>
      <p:sp>
        <p:nvSpPr>
          <p:cNvPr id="11" name="arrow-1"/>
          <p:cNvSpPr/>
          <p:nvPr/>
        </p:nvSpPr>
        <p:spPr>
          <a:xfrm>
            <a:off x="4736592" y="2720340"/>
            <a:ext cx="274320" cy="0"/>
          </a:xfrm>
          <a:prstGeom prst="line">
            <a:avLst/>
          </a:prstGeom>
          <a:noFill/>
          <a:ln w="19050">
            <a:solidFill>
              <a:schemeClr val="accent3"/>
            </a:solidFill>
            <a:prstDash val="solid"/>
            <a:tailEnd type="triangle"/>
          </a:ln>
        </p:spPr>
      </p:sp>
      <p:sp>
        <p:nvSpPr>
          <p:cNvPr id="12" name="chain-2"/>
          <p:cNvSpPr/>
          <p:nvPr/>
        </p:nvSpPr>
        <p:spPr>
          <a:xfrm>
            <a:off x="5065776" y="2011680"/>
            <a:ext cx="1874520" cy="1417320"/>
          </a:xfrm>
          <a:prstGeom prst="roundRect">
            <a:avLst>
              <a:gd name="adj" fmla="val 5161"/>
            </a:avLst>
          </a:prstGeom>
          <a:solidFill>
            <a:schemeClr val="bg2"/>
          </a:solidFill>
          <a:ln w="12700">
            <a:solidFill>
              <a:schemeClr val="accent4"/>
            </a:solidFill>
            <a:prstDash val="solid"/>
          </a:ln>
        </p:spPr>
      </p:sp>
      <p:sp>
        <p:nvSpPr>
          <p:cNvPr id="13" name="Text 11"/>
          <p:cNvSpPr txBox="1"/>
          <p:nvPr/>
        </p:nvSpPr>
        <p:spPr>
          <a:xfrm>
            <a:off x="5202936" y="2176272"/>
            <a:ext cx="1600200" cy="3657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Shift-add (2 col)</a:t>
            </a:r>
            <a:endParaRPr lang="en-US" sz="1600" dirty="0"/>
          </a:p>
        </p:txBody>
      </p:sp>
      <p:sp>
        <p:nvSpPr>
          <p:cNvPr id="14" name="Text 12"/>
          <p:cNvSpPr txBox="1"/>
          <p:nvPr/>
        </p:nvSpPr>
        <p:spPr>
          <a:xfrm>
            <a:off x="5202936" y="2606040"/>
            <a:ext cx="1600200" cy="77724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SUM = (IN0 + 2·IN1) / 3</a:t>
            </a:r>
            <a:endParaRPr lang="en-US" sz="1300" dirty="0"/>
          </a:p>
          <a:p>
            <a:pPr indent="0" marL="0">
              <a:spcAft>
                <a:spcPts val="600"/>
              </a:spcAft>
              <a:buNone/>
            </a:pPr>
            <a:r>
              <a:rPr lang="en-US" sz="1300" dirty="0">
                <a:solidFill>
                  <a:schemeClr val="tx2"/>
                </a:solidFill>
              </a:rPr>
              <a:t>range stays 0 … 0.2 V</a:t>
            </a:r>
            <a:endParaRPr lang="en-US" sz="1300" dirty="0"/>
          </a:p>
        </p:txBody>
      </p:sp>
      <p:sp>
        <p:nvSpPr>
          <p:cNvPr id="15" name="arrow-2"/>
          <p:cNvSpPr/>
          <p:nvPr/>
        </p:nvSpPr>
        <p:spPr>
          <a:xfrm>
            <a:off x="6995160" y="2720340"/>
            <a:ext cx="274320" cy="0"/>
          </a:xfrm>
          <a:prstGeom prst="line">
            <a:avLst/>
          </a:prstGeom>
          <a:noFill/>
          <a:ln w="19050">
            <a:solidFill>
              <a:schemeClr val="accent3"/>
            </a:solidFill>
            <a:prstDash val="solid"/>
            <a:tailEnd type="triangle"/>
          </a:ln>
        </p:spPr>
      </p:sp>
      <p:sp>
        <p:nvSpPr>
          <p:cNvPr id="16" name="chain-3"/>
          <p:cNvSpPr/>
          <p:nvPr/>
        </p:nvSpPr>
        <p:spPr>
          <a:xfrm>
            <a:off x="7324344" y="2011680"/>
            <a:ext cx="1874520" cy="1417320"/>
          </a:xfrm>
          <a:prstGeom prst="roundRect">
            <a:avLst>
              <a:gd name="adj" fmla="val 5161"/>
            </a:avLst>
          </a:prstGeom>
          <a:solidFill>
            <a:schemeClr val="accent5"/>
          </a:solidFill>
          <a:ln w="12700">
            <a:solidFill>
              <a:schemeClr val="accent1"/>
            </a:solidFill>
            <a:prstDash val="solid"/>
          </a:ln>
        </p:spPr>
      </p:sp>
      <p:sp>
        <p:nvSpPr>
          <p:cNvPr id="17" name="Text 15"/>
          <p:cNvSpPr txBox="1"/>
          <p:nvPr/>
        </p:nvSpPr>
        <p:spPr>
          <a:xfrm>
            <a:off x="7461504" y="2176272"/>
            <a:ext cx="1600200" cy="3657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ADC (3-bit)</a:t>
            </a:r>
            <a:endParaRPr lang="en-US" sz="1600" dirty="0"/>
          </a:p>
        </p:txBody>
      </p:sp>
      <p:sp>
        <p:nvSpPr>
          <p:cNvPr id="18" name="Text 16"/>
          <p:cNvSpPr txBox="1"/>
          <p:nvPr/>
        </p:nvSpPr>
        <p:spPr>
          <a:xfrm>
            <a:off x="7461504" y="2606040"/>
            <a:ext cx="1600200" cy="77724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VREF = 0.8 V</a:t>
            </a:r>
            <a:endParaRPr lang="en-US" sz="1300" dirty="0"/>
          </a:p>
          <a:p>
            <a:pPr indent="0" marL="0">
              <a:spcAft>
                <a:spcPts val="600"/>
              </a:spcAft>
              <a:buNone/>
            </a:pPr>
            <a:r>
              <a:rPr lang="en-US" sz="1300" dirty="0">
                <a:solidFill>
                  <a:schemeClr val="tx2"/>
                </a:solidFill>
              </a:rPr>
              <a:t>LSB = 100 mV</a:t>
            </a:r>
            <a:endParaRPr lang="en-US" sz="1300" dirty="0"/>
          </a:p>
        </p:txBody>
      </p:sp>
      <p:sp>
        <p:nvSpPr>
          <p:cNvPr id="19" name="arrow-3"/>
          <p:cNvSpPr/>
          <p:nvPr/>
        </p:nvSpPr>
        <p:spPr>
          <a:xfrm>
            <a:off x="9253728" y="2720340"/>
            <a:ext cx="274320" cy="0"/>
          </a:xfrm>
          <a:prstGeom prst="line">
            <a:avLst/>
          </a:prstGeom>
          <a:noFill/>
          <a:ln w="19050">
            <a:solidFill>
              <a:schemeClr val="accent3"/>
            </a:solidFill>
            <a:prstDash val="solid"/>
            <a:tailEnd type="triangle"/>
          </a:ln>
        </p:spPr>
      </p:sp>
      <p:sp>
        <p:nvSpPr>
          <p:cNvPr id="20" name="chain-4"/>
          <p:cNvSpPr/>
          <p:nvPr/>
        </p:nvSpPr>
        <p:spPr>
          <a:xfrm>
            <a:off x="9582912" y="2011680"/>
            <a:ext cx="1874520" cy="1417320"/>
          </a:xfrm>
          <a:prstGeom prst="roundRect">
            <a:avLst>
              <a:gd name="adj" fmla="val 5161"/>
            </a:avLst>
          </a:prstGeom>
          <a:solidFill>
            <a:schemeClr val="bg2"/>
          </a:solidFill>
          <a:ln w="12700">
            <a:solidFill>
              <a:schemeClr val="accent4"/>
            </a:solidFill>
            <a:prstDash val="solid"/>
          </a:ln>
        </p:spPr>
      </p:sp>
      <p:sp>
        <p:nvSpPr>
          <p:cNvPr id="21" name="Text 19"/>
          <p:cNvSpPr txBox="1"/>
          <p:nvPr/>
        </p:nvSpPr>
        <p:spPr>
          <a:xfrm>
            <a:off x="9720072" y="2176272"/>
            <a:ext cx="1600200" cy="3657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Code</a:t>
            </a:r>
            <a:endParaRPr lang="en-US" sz="1600" dirty="0"/>
          </a:p>
        </p:txBody>
      </p:sp>
      <p:sp>
        <p:nvSpPr>
          <p:cNvPr id="22" name="Text 20"/>
          <p:cNvSpPr txBox="1"/>
          <p:nvPr/>
        </p:nvSpPr>
        <p:spPr>
          <a:xfrm>
            <a:off x="9720072" y="2606040"/>
            <a:ext cx="1600200" cy="77724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D2 D1 D0</a:t>
            </a:r>
            <a:endParaRPr lang="en-US" sz="1300" dirty="0"/>
          </a:p>
        </p:txBody>
      </p:sp>
      <p:sp>
        <p:nvSpPr>
          <p:cNvPr id="23" name="mismatch-panel"/>
          <p:cNvSpPr/>
          <p:nvPr/>
        </p:nvSpPr>
        <p:spPr>
          <a:xfrm>
            <a:off x="548640" y="3886200"/>
            <a:ext cx="11094415" cy="2103120"/>
          </a:xfrm>
          <a:prstGeom prst="roundRect">
            <a:avLst>
              <a:gd name="adj" fmla="val 3478"/>
            </a:avLst>
          </a:prstGeom>
          <a:solidFill>
            <a:schemeClr val="bg2"/>
          </a:solidFill>
          <a:ln w="12700">
            <a:solidFill>
              <a:schemeClr val="bg2"/>
            </a:solidFill>
            <a:prstDash val="solid"/>
          </a:ln>
        </p:spPr>
      </p:sp>
      <p:sp>
        <p:nvSpPr>
          <p:cNvPr id="24" name="Text 22"/>
          <p:cNvSpPr txBox="1"/>
          <p:nvPr/>
        </p:nvSpPr>
        <p:spPr>
          <a:xfrm>
            <a:off x="822960" y="4041648"/>
            <a:ext cx="7315200" cy="36576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Where the blocks do not fit yet</a:t>
            </a:r>
            <a:endParaRPr lang="en-US" sz="1700" dirty="0"/>
          </a:p>
        </p:txBody>
      </p:sp>
      <p:sp>
        <p:nvSpPr>
          <p:cNvPr id="25" name="Text 23"/>
          <p:cNvSpPr txBox="1"/>
          <p:nvPr/>
        </p:nvSpPr>
        <p:spPr>
          <a:xfrm>
            <a:off x="822960" y="4480560"/>
            <a:ext cx="10545775" cy="141732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chemeClr val="tx1"/>
                </a:solidFill>
              </a:rPr>
              <a:t>Range: </a:t>
            </a:r>
            <a:pPr indent="0" marL="0">
              <a:spcAft>
                <a:spcPts val="600"/>
              </a:spcAft>
              <a:buNone/>
            </a:pPr>
            <a:r>
              <a:rPr lang="en-US" sz="1500" dirty="0">
                <a:solidFill>
                  <a:schemeClr val="tx1"/>
                </a:solidFill>
              </a:rPr>
              <a:t>the column only reaches 0.2 V, but the ADC spans 0.8 V, so only codes 0–2 are ever used.</a:t>
            </a:r>
            <a:endParaRPr lang="en-US" sz="1500" dirty="0"/>
          </a:p>
          <a:p>
            <a:pPr marL="203200" indent="-203200">
              <a:spcAft>
                <a:spcPts val="600"/>
              </a:spcAft>
              <a:buSzPct val="100000"/>
              <a:buChar char="•"/>
            </a:pPr>
            <a:r>
              <a:rPr lang="en-US" sz="1500" b="1" dirty="0">
                <a:solidFill>
                  <a:schemeClr val="tx1"/>
                </a:solidFill>
              </a:rPr>
              <a:t>Resolution: </a:t>
            </a:r>
            <a:pPr indent="0" marL="0">
              <a:spcAft>
                <a:spcPts val="600"/>
              </a:spcAft>
              <a:buNone/>
            </a:pPr>
            <a:r>
              <a:rPr lang="en-US" sz="1500" dirty="0">
                <a:solidFill>
                  <a:schemeClr val="tx1"/>
                </a:solidFill>
              </a:rPr>
              <a:t>one column has 5 levels (3 bits is enough); after shift-add there are 13 levels, which needs 4 bits.</a:t>
            </a:r>
            <a:endParaRPr lang="en-US" sz="1500" dirty="0"/>
          </a:p>
          <a:p>
            <a:pPr marL="203200" indent="-203200">
              <a:spcAft>
                <a:spcPts val="600"/>
              </a:spcAft>
              <a:buSzPct val="100000"/>
              <a:buChar char="•"/>
            </a:pPr>
            <a:r>
              <a:rPr lang="en-US" sz="1500" b="1" dirty="0">
                <a:solidFill>
                  <a:schemeClr val="tx1"/>
                </a:solidFill>
              </a:rPr>
              <a:t>Same MAC, different voltage: </a:t>
            </a:r>
            <a:pPr indent="0" marL="0">
              <a:spcAft>
                <a:spcPts val="600"/>
              </a:spcAft>
              <a:buNone/>
            </a:pPr>
            <a:r>
              <a:rPr lang="en-US" sz="1500" dirty="0">
                <a:solidFill>
                  <a:schemeClr val="tx1"/>
                </a:solidFill>
              </a:rPr>
              <a:t>MAC = 1 gives 36 mV or 32 mV depending on how many weights in that column are 1 (loading by RL).</a:t>
            </a:r>
            <a:endParaRPr lang="en-US" sz="15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HOW MANY BITS?</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Bits needed come from the levels the array can produce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315200" cy="914400"/>
        </p:xfrm>
        <a:graphic>
          <a:graphicData uri="http://schemas.openxmlformats.org/drawingml/2006/table">
            <a:tbl>
              <a:tblPr/>
              <a:tblGrid>
                <a:gridCol w="3108960"/>
                <a:gridCol w="2194560"/>
                <a:gridCol w="822960"/>
                <a:gridCol w="1188720"/>
              </a:tblGrid>
              <a:tr h="438912">
                <a:tc>
                  <a:txBody>
                    <a:bodyPr/>
                    <a:lstStyle/>
                    <a:p>
                      <a:pPr indent="0" marL="0">
                        <a:buNone/>
                      </a:pPr>
                      <a:r>
                        <a:rPr lang="en-US" sz="1400" b="1" dirty="0">
                          <a:solidFill>
                            <a:srgbClr val="1D2B36"/>
                          </a:solidFill>
                        </a:rPr>
                        <a:t>Where the ADC sits</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Possible values</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Levels</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Bits needed</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r>
              <a:tr h="438912">
                <a:tc>
                  <a:txBody>
                    <a:bodyPr/>
                    <a:lstStyle/>
                    <a:p>
                      <a:pPr indent="0" marL="0">
                        <a:buNone/>
                      </a:pPr>
                      <a:r>
                        <a:rPr lang="en-US" sz="1400" dirty="0">
                          <a:solidFill>
                            <a:srgbClr val="1D2B36"/>
                          </a:solidFill>
                        </a:rPr>
                        <a:t>One column (4 rows, binary in and weight)</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MAC = 0 … 4</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5</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C8553D"/>
                          </a:solidFill>
                        </a:rPr>
                        <a:t>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38912">
                <a:tc>
                  <a:txBody>
                    <a:bodyPr/>
                    <a:lstStyle/>
                    <a:p>
                      <a:pPr indent="0" marL="0">
                        <a:buNone/>
                      </a:pPr>
                      <a:r>
                        <a:rPr lang="en-US" sz="1400" dirty="0">
                          <a:solidFill>
                            <a:srgbClr val="1D2B36"/>
                          </a:solidFill>
                        </a:rPr>
                        <a:t>After 2-column shift-add (weights 1 : 2)</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0 … 4 + 2·(0 … 4) = 0 … 12</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13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C8553D"/>
                          </a:solidFill>
                        </a:rPr>
                        <a:t>4</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38912">
                <a:tc>
                  <a:txBody>
                    <a:bodyPr/>
                    <a:lstStyle/>
                    <a:p>
                      <a:pPr indent="0" marL="0">
                        <a:buNone/>
                      </a:pPr>
                      <a:r>
                        <a:rPr lang="en-US" sz="1400" dirty="0">
                          <a:solidFill>
                            <a:srgbClr val="1D2B36"/>
                          </a:solidFill>
                        </a:rPr>
                        <a:t>After 4-column shift-add (1 : 2 : 4 : 8)</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0 … 60</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61</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C8553D"/>
                          </a:solidFill>
                        </a:rPr>
                        <a:t>6</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38912">
                <a:tc>
                  <a:txBody>
                    <a:bodyPr/>
                    <a:lstStyle/>
                    <a:p>
                      <a:pPr indent="0" marL="0">
                        <a:buNone/>
                      </a:pPr>
                      <a:r>
                        <a:rPr lang="en-US" sz="1400" dirty="0">
                          <a:solidFill>
                            <a:srgbClr val="1D2B36"/>
                          </a:solidFill>
                        </a:rPr>
                        <a:t>8-row array, 4-column shift-add</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0 … 120</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121</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C8553D"/>
                          </a:solidFill>
                        </a:rPr>
                        <a:t>7</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bl>
          </a:graphicData>
        </a:graphic>
      </p:graphicFrame>
      <p:sp>
        <p:nvSpPr>
          <p:cNvPr id="5" name="rule-panel"/>
          <p:cNvSpPr/>
          <p:nvPr/>
        </p:nvSpPr>
        <p:spPr>
          <a:xfrm>
            <a:off x="8275320" y="1645920"/>
            <a:ext cx="3364992" cy="3931920"/>
          </a:xfrm>
          <a:prstGeom prst="roundRect">
            <a:avLst>
              <a:gd name="adj" fmla="val 2174"/>
            </a:avLst>
          </a:prstGeom>
          <a:solidFill>
            <a:schemeClr val="bg2"/>
          </a:solidFill>
          <a:ln w="12700">
            <a:solidFill>
              <a:schemeClr val="bg2"/>
            </a:solidFill>
            <a:prstDash val="solid"/>
          </a:ln>
        </p:spPr>
      </p:sp>
      <p:sp>
        <p:nvSpPr>
          <p:cNvPr id="6" name="Text 3"/>
          <p:cNvSpPr txBox="1"/>
          <p:nvPr/>
        </p:nvSpPr>
        <p:spPr>
          <a:xfrm>
            <a:off x="8503920" y="1828800"/>
            <a:ext cx="2926080" cy="36576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Rule</a:t>
            </a:r>
            <a:endParaRPr lang="en-US" sz="1700" dirty="0"/>
          </a:p>
        </p:txBody>
      </p:sp>
      <p:sp>
        <p:nvSpPr>
          <p:cNvPr id="7" name="Text 4"/>
          <p:cNvSpPr txBox="1"/>
          <p:nvPr/>
        </p:nvSpPr>
        <p:spPr>
          <a:xfrm>
            <a:off x="8503920" y="2286000"/>
            <a:ext cx="2926080" cy="457200"/>
          </a:xfrm>
          <a:prstGeom prst="rect">
            <a:avLst/>
          </a:prstGeom>
          <a:noFill/>
          <a:ln/>
        </p:spPr>
        <p:txBody>
          <a:bodyPr wrap="square" lIns="0" tIns="0" rIns="0" bIns="0" rtlCol="0" anchor="t"/>
          <a:lstStyle/>
          <a:p>
            <a:pPr indent="0" marL="0">
              <a:spcAft>
                <a:spcPts val="600"/>
              </a:spcAft>
              <a:buNone/>
            </a:pPr>
            <a:r>
              <a:rPr lang="en-US" sz="1800" dirty="0">
                <a:solidFill>
                  <a:schemeClr val="tx1"/>
                </a:solidFill>
                <a:latin typeface="Cambria" pitchFamily="34" charset="0"/>
                <a:ea typeface="Cambria" pitchFamily="34" charset="-122"/>
                <a:cs typeface="Cambria" pitchFamily="34" charset="-120"/>
              </a:rPr>
              <a:t>bits = ⌈log₂(levels)⌉</a:t>
            </a:r>
            <a:endParaRPr lang="en-US" sz="1800" dirty="0"/>
          </a:p>
        </p:txBody>
      </p:sp>
      <p:sp>
        <p:nvSpPr>
          <p:cNvPr id="8" name="Text 5"/>
          <p:cNvSpPr txBox="1"/>
          <p:nvPr/>
        </p:nvSpPr>
        <p:spPr>
          <a:xfrm>
            <a:off x="8503920" y="2880360"/>
            <a:ext cx="2926080" cy="2560320"/>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Each extra column in shift-add doubles the range, so it adds one bit.</a:t>
            </a:r>
            <a:endParaRPr lang="en-US" sz="1500" dirty="0"/>
          </a:p>
          <a:p>
            <a:pPr indent="0" marL="0">
              <a:spcAft>
                <a:spcPts val="600"/>
              </a:spcAft>
              <a:buNone/>
            </a:pPr>
            <a:r>
              <a:rPr lang="en-US" sz="600" dirty="0">
                <a:solidFill>
                  <a:schemeClr val="tx2"/>
                </a:solidFill>
              </a:rPr>
              <a:t> </a:t>
            </a:r>
            <a:endParaRPr lang="en-US" sz="1500" dirty="0"/>
          </a:p>
          <a:p>
            <a:pPr indent="0" marL="0">
              <a:spcAft>
                <a:spcPts val="600"/>
              </a:spcAft>
              <a:buNone/>
            </a:pPr>
            <a:r>
              <a:rPr lang="en-US" sz="1500" dirty="0">
                <a:solidFill>
                  <a:schemeClr val="tx2"/>
                </a:solidFill>
              </a:rPr>
              <a:t>This is the paper's trade-off: shift-add saves ADCs, but each remaining ADC needs more bits.</a:t>
            </a:r>
            <a:endParaRPr lang="en-US" sz="1500" dirty="0"/>
          </a:p>
        </p:txBody>
      </p:sp>
      <p:sp>
        <p:nvSpPr>
          <p:cNvPr id="9" name="Text 6"/>
          <p:cNvSpPr txBox="1"/>
          <p:nvPr/>
        </p:nvSpPr>
        <p:spPr>
          <a:xfrm>
            <a:off x="548640" y="4251960"/>
            <a:ext cx="7315200" cy="7315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My 3-bit ADCs are enough for one column, not for the shift-add output. Next step: a 4-bit SAR.</a:t>
            </a:r>
            <a:endParaRPr lang="en-US" sz="16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BLOCK 1 · 4×4 SRAM ARRAY</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Column voltages match the hand formula with a 2.3 kΩ switch</a:t>
            </a:r>
            <a:endParaRPr lang="en-US" sz="2800" dirty="0"/>
          </a:p>
        </p:txBody>
      </p:sp>
      <p:pic>
        <p:nvPicPr>
          <p:cNvPr id="4" name="c_sch_sram_cell6t.png" descr="One SRAM CiM cell: 6T storage and read transistor">    </p:cNvPr>
          <p:cNvPicPr>
            <a:picLocks noChangeAspect="1"/>
          </p:cNvPicPr>
          <p:nvPr/>
        </p:nvPicPr>
        <p:blipFill>
          <a:blip r:embed="rId1"/>
          <a:stretch>
            <a:fillRect/>
          </a:stretch>
        </p:blipFill>
        <p:spPr>
          <a:xfrm>
            <a:off x="563183" y="1508760"/>
            <a:ext cx="4177155" cy="3108960"/>
          </a:xfrm>
          <a:prstGeom prst="rect">
            <a:avLst/>
          </a:prstGeom>
        </p:spPr>
      </p:pic>
      <p:sp>
        <p:nvSpPr>
          <p:cNvPr id="5" name="Text 2"/>
          <p:cNvSpPr txBox="1"/>
          <p:nvPr/>
        </p:nvSpPr>
        <p:spPr>
          <a:xfrm>
            <a:off x="548640" y="4663440"/>
            <a:ext cx="4206240" cy="274320"/>
          </a:xfrm>
          <a:prstGeom prst="rect">
            <a:avLst/>
          </a:prstGeom>
          <a:noFill/>
          <a:ln/>
        </p:spPr>
        <p:txBody>
          <a:bodyPr wrap="square" lIns="0" tIns="0" rIns="0" bIns="0" rtlCol="0" anchor="t"/>
          <a:lstStyle/>
          <a:p>
            <a:pPr indent="0" marL="0">
              <a:spcAft>
                <a:spcPts val="600"/>
              </a:spcAft>
              <a:buNone/>
            </a:pPr>
            <a:r>
              <a:rPr lang="en-US" sz="1100" i="1" dirty="0">
                <a:solidFill>
                  <a:schemeClr val="accent6"/>
                </a:solidFill>
              </a:rPr>
              <a:t>sram_cell6t.sch: one of the 16 cells. Q gates MRD between row RIN and column CL; each column has RL = 250 Ω to ground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120640" y="1554480"/>
          <a:ext cx="6492240" cy="914400"/>
        </p:xfrm>
        <a:graphic>
          <a:graphicData uri="http://schemas.openxmlformats.org/drawingml/2006/table">
            <a:tbl>
              <a:tblPr/>
              <a:tblGrid>
                <a:gridCol w="1097280"/>
                <a:gridCol w="1097280"/>
                <a:gridCol w="2240280"/>
                <a:gridCol w="2057400"/>
              </a:tblGrid>
              <a:tr h="411480">
                <a:tc>
                  <a:txBody>
                    <a:bodyPr/>
                    <a:lstStyle/>
                    <a:p>
                      <a:pPr indent="0" marL="0">
                        <a:buNone/>
                      </a:pPr>
                      <a:r>
                        <a:rPr lang="en-US" sz="1400" b="1" dirty="0">
                          <a:solidFill>
                            <a:srgbClr val="1D2B36"/>
                          </a:solidFill>
                        </a:rPr>
                        <a:t>Input x</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MAC</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Hand, G = 1 mS (mV)</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Simulated (mV)</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r>
              <a:tr h="411480">
                <a:tc>
                  <a:txBody>
                    <a:bodyPr/>
                    <a:lstStyle/>
                    <a:p>
                      <a:pPr indent="0" marL="0">
                        <a:buNone/>
                      </a:pPr>
                      <a:r>
                        <a:rPr lang="en-US" sz="1400" dirty="0">
                          <a:solidFill>
                            <a:srgbClr val="1D2B36"/>
                          </a:solidFill>
                        </a:rPr>
                        <a:t>1 0 0 0</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1 0 1 1</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67 · 0 · 57 · 57</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36 · 0 · 32 · 32</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11480">
                <a:tc>
                  <a:txBody>
                    <a:bodyPr/>
                    <a:lstStyle/>
                    <a:p>
                      <a:pPr indent="0" marL="0">
                        <a:buNone/>
                      </a:pPr>
                      <a:r>
                        <a:rPr lang="en-US" sz="1400" dirty="0">
                          <a:solidFill>
                            <a:srgbClr val="1D2B36"/>
                          </a:solidFill>
                        </a:rPr>
                        <a:t>1 1 1 1</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2 2 3 3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133 · 133 · 171 · 171</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75 · 75 · 103 · 103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11480">
                <a:tc>
                  <a:txBody>
                    <a:bodyPr/>
                    <a:lstStyle/>
                    <a:p>
                      <a:pPr indent="0" marL="0">
                        <a:buNone/>
                      </a:pPr>
                      <a:r>
                        <a:rPr lang="en-US" sz="1400" dirty="0">
                          <a:solidFill>
                            <a:srgbClr val="1D2B36"/>
                          </a:solidFill>
                        </a:rPr>
                        <a:t>1 0 1 1</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2 1 2 3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133 · 67 · 114 · 171</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75 · 36 · 66 · 103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bl>
          </a:graphicData>
        </a:graphic>
      </p:graphicFrame>
      <p:sp>
        <p:nvSpPr>
          <p:cNvPr id="7" name="Text 3"/>
          <p:cNvSpPr txBox="1"/>
          <p:nvPr/>
        </p:nvSpPr>
        <p:spPr>
          <a:xfrm>
            <a:off x="5120640" y="3429000"/>
            <a:ext cx="6492240" cy="1737360"/>
          </a:xfrm>
          <a:prstGeom prst="rect">
            <a:avLst/>
          </a:prstGeom>
          <a:noFill/>
          <a:ln/>
        </p:spPr>
        <p:txBody>
          <a:bodyPr wrap="square" lIns="0" tIns="0" rIns="0" bIns="0" rtlCol="0" anchor="t"/>
          <a:lstStyle/>
          <a:p>
            <a:pPr indent="0" marL="0">
              <a:spcAft>
                <a:spcPts val="600"/>
              </a:spcAft>
              <a:buNone/>
            </a:pPr>
            <a:r>
              <a:rPr lang="en-US" sz="1700" dirty="0">
                <a:solidFill>
                  <a:schemeClr val="tx1"/>
                </a:solidFill>
                <a:latin typeface="Cambria" pitchFamily="34" charset="0"/>
                <a:ea typeface="Cambria" pitchFamily="34" charset="-122"/>
                <a:cs typeface="Cambria" pitchFamily="34" charset="-120"/>
              </a:rPr>
              <a:t>VCL = Σ G·VRIN / (Σ G + 1/RL)</a:t>
            </a:r>
            <a:endParaRPr lang="en-US" sz="1500" dirty="0"/>
          </a:p>
          <a:p>
            <a:pPr indent="0" marL="0">
              <a:spcAft>
                <a:spcPts val="600"/>
              </a:spcAft>
              <a:buNone/>
            </a:pPr>
            <a:r>
              <a:rPr lang="en-US" sz="1500" dirty="0">
                <a:solidFill>
                  <a:schemeClr val="tx2"/>
                </a:solidFill>
              </a:rPr>
              <a:t>Simulation is about 55 % of the hand value. Fitting the data gives a read-transistor resistance of about 2.3 kΩ, not the 1 kΩ I assumed. With 2.3 kΩ the hand formula matches the simulation within 4 %.</a:t>
            </a:r>
            <a:endParaRPr lang="en-US" sz="15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BLOCK 2 · ANALOG SHIFT-ADD</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Charge sharing between C and 2C gives the 1 : 2 column weighting</a:t>
            </a:r>
            <a:endParaRPr lang="en-US" sz="2800" dirty="0"/>
          </a:p>
        </p:txBody>
      </p:sp>
      <p:pic>
        <p:nvPicPr>
          <p:cNvPr id="4" name="c_sch_shift_add_2col.png" descr="Two-column shift-add schematic">    </p:cNvPr>
          <p:cNvPicPr>
            <a:picLocks noChangeAspect="1"/>
          </p:cNvPicPr>
          <p:nvPr/>
        </p:nvPicPr>
        <p:blipFill>
          <a:blip r:embed="rId1"/>
          <a:stretch>
            <a:fillRect/>
          </a:stretch>
        </p:blipFill>
        <p:spPr>
          <a:xfrm>
            <a:off x="2127352" y="1417320"/>
            <a:ext cx="7936992" cy="2834640"/>
          </a:xfrm>
          <a:prstGeom prst="rect">
            <a:avLst/>
          </a:prstGeom>
        </p:spPr>
      </p:pic>
      <p:sp>
        <p:nvSpPr>
          <p:cNvPr id="5" name="Text 2"/>
          <p:cNvSpPr txBox="1"/>
          <p:nvPr/>
        </p:nvSpPr>
        <p:spPr>
          <a:xfrm>
            <a:off x="548640" y="4279392"/>
            <a:ext cx="9144000" cy="274320"/>
          </a:xfrm>
          <a:prstGeom prst="rect">
            <a:avLst/>
          </a:prstGeom>
          <a:noFill/>
          <a:ln/>
        </p:spPr>
        <p:txBody>
          <a:bodyPr wrap="square" lIns="0" tIns="0" rIns="0" bIns="0" rtlCol="0" anchor="t"/>
          <a:lstStyle/>
          <a:p>
            <a:pPr indent="0" marL="0">
              <a:spcAft>
                <a:spcPts val="600"/>
              </a:spcAft>
              <a:buNone/>
            </a:pPr>
            <a:r>
              <a:rPr lang="en-US" sz="1100" i="1" dirty="0">
                <a:solidFill>
                  <a:schemeClr val="accent6"/>
                </a:solidFill>
              </a:rPr>
              <a:t>shift_add_2col.sch: transmission-gate switches, C0 = 1 pF (LSB column), C1 = 2 pF (MSB column)</a:t>
            </a:r>
            <a:endParaRPr lang="en-US" sz="1100" dirty="0"/>
          </a:p>
        </p:txBody>
      </p:sp>
      <p:sp>
        <p:nvSpPr>
          <p:cNvPr id="6" name="phases"/>
          <p:cNvSpPr/>
          <p:nvPr/>
        </p:nvSpPr>
        <p:spPr>
          <a:xfrm>
            <a:off x="548640" y="4617720"/>
            <a:ext cx="5394960" cy="1691640"/>
          </a:xfrm>
          <a:prstGeom prst="roundRect">
            <a:avLst>
              <a:gd name="adj" fmla="val 4324"/>
            </a:avLst>
          </a:prstGeom>
          <a:solidFill>
            <a:schemeClr val="bg2"/>
          </a:solidFill>
          <a:ln w="12700">
            <a:solidFill>
              <a:schemeClr val="bg2"/>
            </a:solidFill>
            <a:prstDash val="solid"/>
          </a:ln>
        </p:spPr>
      </p:sp>
      <p:sp>
        <p:nvSpPr>
          <p:cNvPr id="7" name="Text 4"/>
          <p:cNvSpPr txBox="1"/>
          <p:nvPr/>
        </p:nvSpPr>
        <p:spPr>
          <a:xfrm>
            <a:off x="777240" y="4709160"/>
            <a:ext cx="5029200" cy="3657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Two phases, never overlapping</a:t>
            </a:r>
            <a:endParaRPr lang="en-US" sz="1600" dirty="0"/>
          </a:p>
        </p:txBody>
      </p:sp>
      <p:sp>
        <p:nvSpPr>
          <p:cNvPr id="8" name="Text 5"/>
          <p:cNvSpPr txBox="1"/>
          <p:nvPr/>
        </p:nvSpPr>
        <p:spPr>
          <a:xfrm>
            <a:off x="777240" y="5074920"/>
            <a:ext cx="4983480" cy="118872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chemeClr val="tx1"/>
                </a:solidFill>
              </a:rPr>
              <a:t>RST: </a:t>
            </a:r>
            <a:pPr indent="0" marL="0">
              <a:spcAft>
                <a:spcPts val="600"/>
              </a:spcAft>
              <a:buNone/>
            </a:pPr>
            <a:r>
              <a:rPr lang="en-US" sz="1500" dirty="0">
                <a:solidFill>
                  <a:schemeClr val="tx1"/>
                </a:solidFill>
              </a:rPr>
              <a:t>SUM and both bottom plates tied to VREF, so both caps start with zero charge.</a:t>
            </a:r>
            <a:endParaRPr lang="en-US" sz="1500" dirty="0"/>
          </a:p>
          <a:p>
            <a:pPr marL="203200" indent="-203200">
              <a:spcAft>
                <a:spcPts val="600"/>
              </a:spcAft>
              <a:buSzPct val="100000"/>
              <a:buChar char="•"/>
            </a:pPr>
            <a:r>
              <a:rPr lang="en-US" sz="1500" b="1" dirty="0">
                <a:solidFill>
                  <a:schemeClr val="tx1"/>
                </a:solidFill>
              </a:rPr>
              <a:t>SHARE: </a:t>
            </a:r>
            <a:pPr indent="0" marL="0">
              <a:spcAft>
                <a:spcPts val="600"/>
              </a:spcAft>
              <a:buNone/>
            </a:pPr>
            <a:r>
              <a:rPr lang="en-US" sz="1500" dirty="0">
                <a:solidFill>
                  <a:schemeClr val="tx1"/>
                </a:solidFill>
              </a:rPr>
              <a:t>bottom plates jump to IN0 and IN1; SUM floats and moves by the charge-weighted average.</a:t>
            </a:r>
            <a:endParaRPr lang="en-US" sz="1500" dirty="0"/>
          </a:p>
        </p:txBody>
      </p:sp>
      <p:sp>
        <p:nvSpPr>
          <p:cNvPr id="9" name="derivation"/>
          <p:cNvSpPr/>
          <p:nvPr/>
        </p:nvSpPr>
        <p:spPr>
          <a:xfrm>
            <a:off x="6263640" y="4617720"/>
            <a:ext cx="5376672" cy="1691640"/>
          </a:xfrm>
          <a:prstGeom prst="roundRect">
            <a:avLst>
              <a:gd name="adj" fmla="val 4324"/>
            </a:avLst>
          </a:prstGeom>
          <a:solidFill>
            <a:schemeClr val="bg2"/>
          </a:solidFill>
          <a:ln w="12700">
            <a:solidFill>
              <a:schemeClr val="bg2"/>
            </a:solidFill>
            <a:prstDash val="solid"/>
          </a:ln>
        </p:spPr>
      </p:sp>
      <p:sp>
        <p:nvSpPr>
          <p:cNvPr id="10" name="Text 7"/>
          <p:cNvSpPr txBox="1"/>
          <p:nvPr/>
        </p:nvSpPr>
        <p:spPr>
          <a:xfrm>
            <a:off x="6492240" y="4709160"/>
            <a:ext cx="4937760" cy="3657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Charge conservation on the SUM node</a:t>
            </a:r>
            <a:endParaRPr lang="en-US" sz="1600" dirty="0"/>
          </a:p>
        </p:txBody>
      </p:sp>
      <p:sp>
        <p:nvSpPr>
          <p:cNvPr id="11" name="Text 8"/>
          <p:cNvSpPr txBox="1"/>
          <p:nvPr/>
        </p:nvSpPr>
        <p:spPr>
          <a:xfrm>
            <a:off x="6492240" y="5074920"/>
            <a:ext cx="4937760" cy="731520"/>
          </a:xfrm>
          <a:prstGeom prst="rect">
            <a:avLst/>
          </a:prstGeom>
          <a:noFill/>
          <a:ln/>
        </p:spPr>
        <p:txBody>
          <a:bodyPr wrap="square" lIns="0" tIns="0" rIns="0" bIns="0" rtlCol="0" anchor="t"/>
          <a:lstStyle/>
          <a:p>
            <a:pPr indent="0" marL="0">
              <a:spcAft>
                <a:spcPts val="600"/>
              </a:spcAft>
              <a:buNone/>
            </a:pPr>
            <a:r>
              <a:rPr lang="en-US" sz="1700" dirty="0">
                <a:solidFill>
                  <a:schemeClr val="tx1"/>
                </a:solidFill>
                <a:latin typeface="Cambria" pitchFamily="34" charset="0"/>
                <a:ea typeface="Cambria" pitchFamily="34" charset="-122"/>
                <a:cs typeface="Cambria" pitchFamily="34" charset="-120"/>
              </a:rPr>
              <a:t>C(SUM − IN0) + 2C(SUM − IN1) = 0</a:t>
            </a:r>
            <a:endParaRPr lang="en-US" sz="1700" dirty="0"/>
          </a:p>
          <a:p>
            <a:pPr indent="0" marL="0">
              <a:spcAft>
                <a:spcPts val="600"/>
              </a:spcAft>
              <a:buNone/>
            </a:pPr>
            <a:r>
              <a:rPr lang="en-US" sz="1700" b="1" dirty="0">
                <a:solidFill>
                  <a:srgbClr val="C8553D"/>
                </a:solidFill>
                <a:latin typeface="Cambria" pitchFamily="34" charset="0"/>
                <a:ea typeface="Cambria" pitchFamily="34" charset="-122"/>
                <a:cs typeface="Cambria" pitchFamily="34" charset="-120"/>
              </a:rPr>
              <a:t>SUM = (IN0 + 2·IN1) / 3</a:t>
            </a:r>
            <a:endParaRPr lang="en-US" sz="1700" dirty="0"/>
          </a:p>
        </p:txBody>
      </p:sp>
      <p:sp>
        <p:nvSpPr>
          <p:cNvPr id="12" name="Text 9"/>
          <p:cNvSpPr txBox="1"/>
          <p:nvPr/>
        </p:nvSpPr>
        <p:spPr>
          <a:xfrm>
            <a:off x="6492240" y="5806440"/>
            <a:ext cx="4937760" cy="457200"/>
          </a:xfrm>
          <a:prstGeom prst="rect">
            <a:avLst/>
          </a:prstGeom>
          <a:noFill/>
          <a:ln/>
        </p:spPr>
        <p:txBody>
          <a:bodyPr wrap="square" lIns="0" tIns="0" rIns="0" bIns="0" rtlCol="0" anchor="t"/>
          <a:lstStyle/>
          <a:p>
            <a:pPr indent="0" marL="0">
              <a:spcAft>
                <a:spcPts val="600"/>
              </a:spcAft>
              <a:buNone/>
            </a:pPr>
            <a:r>
              <a:rPr lang="en-US" sz="1200" dirty="0">
                <a:solidFill>
                  <a:schemeClr val="accent6"/>
                </a:solidFill>
              </a:rPr>
              <a:t>(with VREF = 0; for any VREF the same steps give VREF + [C(IN0 − VREF) + 2C(IN1 − VREF)] / 3C)</a:t>
            </a:r>
            <a:endParaRPr lang="en-US" sz="12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BLOCK 2 · ANALOG SHIFT-ADD</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Simulation matches the hand values within 1 %</a:t>
            </a:r>
            <a:endParaRPr lang="en-US" sz="2800" dirty="0"/>
          </a:p>
        </p:txBody>
      </p:sp>
      <p:pic>
        <p:nvPicPr>
          <p:cNvPr id="4" name="plot_shiftadd.png" descr="Shift-add timing diagram: RST, SHARE, inputs and SUM">    </p:cNvPr>
          <p:cNvPicPr>
            <a:picLocks noChangeAspect="1"/>
          </p:cNvPicPr>
          <p:nvPr/>
        </p:nvPicPr>
        <p:blipFill>
          <a:blip r:embed="rId1"/>
          <a:stretch>
            <a:fillRect/>
          </a:stretch>
        </p:blipFill>
        <p:spPr>
          <a:xfrm>
            <a:off x="548640" y="1675160"/>
            <a:ext cx="7498080" cy="4010601"/>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321040" y="1600200"/>
          <a:ext cx="3319272" cy="914400"/>
        </p:xfrm>
        <a:graphic>
          <a:graphicData uri="http://schemas.openxmlformats.org/drawingml/2006/table">
            <a:tbl>
              <a:tblPr/>
              <a:tblGrid>
                <a:gridCol w="640080"/>
                <a:gridCol w="1143000"/>
                <a:gridCol w="768096"/>
                <a:gridCol w="768096"/>
              </a:tblGrid>
              <a:tr h="384048">
                <a:tc>
                  <a:txBody>
                    <a:bodyPr/>
                    <a:lstStyle/>
                    <a:p>
                      <a:pPr indent="0" marL="0">
                        <a:buNone/>
                      </a:pPr>
                      <a:r>
                        <a:rPr lang="en-US" sz="1400" b="1" dirty="0">
                          <a:solidFill>
                            <a:srgbClr val="1D2B36"/>
                          </a:solidFill>
                        </a:rPr>
                        <a:t>Cycle</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IN0, IN1 (V)</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Hand</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Sim</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r>
              <a:tr h="384048">
                <a:tc>
                  <a:txBody>
                    <a:bodyPr/>
                    <a:lstStyle/>
                    <a:p>
                      <a:pPr indent="0" marL="0">
                        <a:buNone/>
                      </a:pPr>
                      <a:r>
                        <a:rPr lang="en-US" sz="1400" dirty="0">
                          <a:solidFill>
                            <a:srgbClr val="1D2B36"/>
                          </a:solidFill>
                        </a:rPr>
                        <a:t>1</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1.2, 0.9</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1.000</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0.993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400" dirty="0">
                          <a:solidFill>
                            <a:srgbClr val="1D2B36"/>
                          </a:solidFill>
                        </a:rPr>
                        <a:t>2</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0.9, 1.2</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1.100</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1.092</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400" dirty="0">
                          <a:solidFill>
                            <a:srgbClr val="1D2B36"/>
                          </a:solidFill>
                        </a:rPr>
                        <a:t>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0.3, 0.3</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0.300</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dirty="0">
                          <a:solidFill>
                            <a:srgbClr val="1D2B36"/>
                          </a:solidFill>
                        </a:rPr>
                        <a:t>0.298</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bl>
          </a:graphicData>
        </a:graphic>
      </p:graphicFrame>
      <p:sp>
        <p:nvSpPr>
          <p:cNvPr id="6" name="Text 2"/>
          <p:cNvSpPr txBox="1"/>
          <p:nvPr/>
        </p:nvSpPr>
        <p:spPr>
          <a:xfrm>
            <a:off x="8321040" y="3337560"/>
            <a:ext cx="3319272" cy="2651760"/>
          </a:xfrm>
          <a:prstGeom prst="rect">
            <a:avLst/>
          </a:prstGeom>
          <a:noFill/>
          <a:ln/>
        </p:spPr>
        <p:txBody>
          <a:bodyPr wrap="square" lIns="0" tIns="0" rIns="0" bIns="0" rtlCol="0" anchor="t"/>
          <a:lstStyle/>
          <a:p>
            <a:pPr indent="0" marL="0">
              <a:spcAft>
                <a:spcPts val="600"/>
              </a:spcAft>
              <a:buNone/>
            </a:pPr>
            <a:r>
              <a:rPr lang="en-US" sz="1400" b="1" dirty="0">
                <a:solidFill>
                  <a:srgbClr val="C8553D"/>
                </a:solidFill>
              </a:rPr>
              <a:t>Why sim is 0.2–0.8 % low</a:t>
            </a:r>
            <a:endParaRPr lang="en-US" sz="1400" dirty="0"/>
          </a:p>
          <a:p>
            <a:pPr indent="0" marL="0">
              <a:spcAft>
                <a:spcPts val="600"/>
              </a:spcAft>
              <a:buNone/>
            </a:pPr>
            <a:r>
              <a:rPr lang="en-US" sz="1400" dirty="0">
                <a:solidFill>
                  <a:schemeClr val="tx1"/>
                </a:solidFill>
              </a:rPr>
              <a:t>The 20 fF load on SUM shares some charge, and the switches inject a little charge as they turn off.</a:t>
            </a:r>
            <a:endParaRPr lang="en-US" sz="1400" dirty="0"/>
          </a:p>
          <a:p>
            <a:pPr indent="0" marL="0">
              <a:spcAft>
                <a:spcPts val="600"/>
              </a:spcAft>
              <a:buNone/>
            </a:pPr>
            <a:r>
              <a:rPr lang="en-US" sz="600" dirty="0">
                <a:solidFill>
                  <a:schemeClr val="tx1"/>
                </a:solidFill>
              </a:rPr>
              <a:t> </a:t>
            </a:r>
            <a:endParaRPr lang="en-US" sz="1400" dirty="0"/>
          </a:p>
          <a:p>
            <a:pPr indent="0" marL="0">
              <a:spcAft>
                <a:spcPts val="600"/>
              </a:spcAft>
              <a:buNone/>
            </a:pPr>
            <a:r>
              <a:rPr lang="en-US" sz="1400" b="1" dirty="0">
                <a:solidFill>
                  <a:srgbClr val="C8553D"/>
                </a:solidFill>
              </a:rPr>
              <a:t>Who makes RST and SHARE</a:t>
            </a:r>
            <a:endParaRPr lang="en-US" sz="1400" dirty="0"/>
          </a:p>
          <a:p>
            <a:pPr indent="0" marL="0">
              <a:spcAft>
                <a:spcPts val="600"/>
              </a:spcAft>
              <a:buNone/>
            </a:pPr>
            <a:r>
              <a:rPr lang="en-US" sz="1400" dirty="0">
                <a:solidFill>
                  <a:schemeClr val="tx1"/>
                </a:solidFill>
              </a:rPr>
              <a:t>Ideal pulse sources today. In the real chain they come from the same counter that sequences the SAR (slide 12).</a:t>
            </a:r>
            <a:endParaRPr lang="en-US" sz="14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BLOCK 3 · COMPARATOR</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Two-stage comparator with an offset-trim input (ADJ)</a:t>
            </a:r>
            <a:endParaRPr lang="en-US" sz="2800" dirty="0"/>
          </a:p>
        </p:txBody>
      </p:sp>
      <p:pic>
        <p:nvPicPr>
          <p:cNvPr id="4" name="c_sch_comparator.png" descr="Comparator schematic">    </p:cNvPr>
          <p:cNvPicPr>
            <a:picLocks noChangeAspect="1"/>
          </p:cNvPicPr>
          <p:nvPr/>
        </p:nvPicPr>
        <p:blipFill>
          <a:blip r:embed="rId1"/>
          <a:stretch>
            <a:fillRect/>
          </a:stretch>
        </p:blipFill>
        <p:spPr>
          <a:xfrm>
            <a:off x="548640" y="1417320"/>
            <a:ext cx="7127095" cy="3291840"/>
          </a:xfrm>
          <a:prstGeom prst="rect">
            <a:avLst/>
          </a:prstGeom>
        </p:spPr>
      </p:pic>
      <p:sp>
        <p:nvSpPr>
          <p:cNvPr id="5" name="Text 2"/>
          <p:cNvSpPr txBox="1"/>
          <p:nvPr/>
        </p:nvSpPr>
        <p:spPr>
          <a:xfrm>
            <a:off x="548640" y="4754880"/>
            <a:ext cx="7223760" cy="274320"/>
          </a:xfrm>
          <a:prstGeom prst="rect">
            <a:avLst/>
          </a:prstGeom>
          <a:noFill/>
          <a:ln/>
        </p:spPr>
        <p:txBody>
          <a:bodyPr wrap="square" lIns="0" tIns="0" rIns="0" bIns="0" rtlCol="0" anchor="t"/>
          <a:lstStyle/>
          <a:p>
            <a:pPr indent="0" marL="0">
              <a:spcAft>
                <a:spcPts val="600"/>
              </a:spcAft>
              <a:buNone/>
            </a:pPr>
            <a:r>
              <a:rPr lang="en-US" sz="1100" i="1" dirty="0">
                <a:solidFill>
                  <a:schemeClr val="accent6"/>
                </a:solidFill>
              </a:rPr>
              <a:t>comparator.sch: PMOS LVT input pair (M8/M9, 8/2 µm), NMOS mirror load, push-pull output; ADJ injects a trim current at G1</a:t>
            </a:r>
            <a:endParaRPr lang="en-US" sz="1100" dirty="0"/>
          </a:p>
        </p:txBody>
      </p:sp>
      <p:sp>
        <p:nvSpPr>
          <p:cNvPr id="6" name="Text 3"/>
          <p:cNvSpPr txBox="1"/>
          <p:nvPr/>
        </p:nvSpPr>
        <p:spPr>
          <a:xfrm>
            <a:off x="8138160" y="1463040"/>
            <a:ext cx="3520440" cy="502920"/>
          </a:xfrm>
          <a:prstGeom prst="rect">
            <a:avLst/>
          </a:prstGeom>
          <a:noFill/>
          <a:ln/>
        </p:spPr>
        <p:txBody>
          <a:bodyPr wrap="square" lIns="0" tIns="0" rIns="0" bIns="0" rtlCol="0" anchor="t"/>
          <a:lstStyle/>
          <a:p>
            <a:pPr indent="0" marL="0">
              <a:spcAft>
                <a:spcPts val="600"/>
              </a:spcAft>
              <a:buNone/>
            </a:pPr>
            <a:r>
              <a:rPr lang="en-US" sz="2600" b="1" dirty="0">
                <a:solidFill>
                  <a:schemeClr val="accent1"/>
                </a:solidFill>
                <a:latin typeface="Cambria" pitchFamily="34" charset="0"/>
                <a:ea typeface="Cambria" pitchFamily="34" charset="-122"/>
                <a:cs typeface="Cambria" pitchFamily="34" charset="-120"/>
              </a:rPr>
              <a:t>≈ 10 µA</a:t>
            </a:r>
            <a:endParaRPr lang="en-US" sz="2600" dirty="0"/>
          </a:p>
        </p:txBody>
      </p:sp>
      <p:sp>
        <p:nvSpPr>
          <p:cNvPr id="7" name="Text 4"/>
          <p:cNvSpPr txBox="1"/>
          <p:nvPr/>
        </p:nvSpPr>
        <p:spPr>
          <a:xfrm>
            <a:off x="8138160" y="1947672"/>
            <a:ext cx="3520440" cy="45720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static supply current (≈ 18 µW at 1.8 V)</a:t>
            </a:r>
            <a:endParaRPr lang="en-US" sz="1400" dirty="0"/>
          </a:p>
        </p:txBody>
      </p:sp>
      <p:sp>
        <p:nvSpPr>
          <p:cNvPr id="8" name="Text 5"/>
          <p:cNvSpPr txBox="1"/>
          <p:nvPr/>
        </p:nvSpPr>
        <p:spPr>
          <a:xfrm>
            <a:off x="8138160" y="2487168"/>
            <a:ext cx="3520440" cy="502920"/>
          </a:xfrm>
          <a:prstGeom prst="rect">
            <a:avLst/>
          </a:prstGeom>
          <a:noFill/>
          <a:ln/>
        </p:spPr>
        <p:txBody>
          <a:bodyPr wrap="square" lIns="0" tIns="0" rIns="0" bIns="0" rtlCol="0" anchor="t"/>
          <a:lstStyle/>
          <a:p>
            <a:pPr indent="0" marL="0">
              <a:spcAft>
                <a:spcPts val="600"/>
              </a:spcAft>
              <a:buNone/>
            </a:pPr>
            <a:r>
              <a:rPr lang="en-US" sz="2600" b="1" dirty="0">
                <a:solidFill>
                  <a:schemeClr val="accent1"/>
                </a:solidFill>
                <a:latin typeface="Cambria" pitchFamily="34" charset="0"/>
                <a:ea typeface="Cambria" pitchFamily="34" charset="-122"/>
                <a:cs typeface="Cambria" pitchFamily="34" charset="-120"/>
              </a:rPr>
              <a:t>−5.4 mV</a:t>
            </a:r>
            <a:endParaRPr lang="en-US" sz="2600" dirty="0"/>
          </a:p>
        </p:txBody>
      </p:sp>
      <p:sp>
        <p:nvSpPr>
          <p:cNvPr id="9" name="Text 6"/>
          <p:cNvSpPr txBox="1"/>
          <p:nvPr/>
        </p:nvSpPr>
        <p:spPr>
          <a:xfrm>
            <a:off x="8138160" y="2971800"/>
            <a:ext cx="3520440" cy="45720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offset at ADJ = 0.75 V</a:t>
            </a:r>
            <a:endParaRPr lang="en-US" sz="1400" dirty="0"/>
          </a:p>
        </p:txBody>
      </p:sp>
      <p:sp>
        <p:nvSpPr>
          <p:cNvPr id="10" name="Text 7"/>
          <p:cNvSpPr txBox="1"/>
          <p:nvPr/>
        </p:nvSpPr>
        <p:spPr>
          <a:xfrm>
            <a:off x="8138160" y="3511296"/>
            <a:ext cx="3520440" cy="502920"/>
          </a:xfrm>
          <a:prstGeom prst="rect">
            <a:avLst/>
          </a:prstGeom>
          <a:noFill/>
          <a:ln/>
        </p:spPr>
        <p:txBody>
          <a:bodyPr wrap="square" lIns="0" tIns="0" rIns="0" bIns="0" rtlCol="0" anchor="t"/>
          <a:lstStyle/>
          <a:p>
            <a:pPr indent="0" marL="0">
              <a:spcAft>
                <a:spcPts val="600"/>
              </a:spcAft>
              <a:buNone/>
            </a:pPr>
            <a:r>
              <a:rPr lang="en-US" sz="2600" b="1" dirty="0">
                <a:solidFill>
                  <a:schemeClr val="accent1"/>
                </a:solidFill>
                <a:latin typeface="Cambria" pitchFamily="34" charset="0"/>
                <a:ea typeface="Cambria" pitchFamily="34" charset="-122"/>
                <a:cs typeface="Cambria" pitchFamily="34" charset="-120"/>
              </a:rPr>
              <a:t>12–37 ns</a:t>
            </a:r>
            <a:endParaRPr lang="en-US" sz="2600" dirty="0"/>
          </a:p>
        </p:txBody>
      </p:sp>
      <p:sp>
        <p:nvSpPr>
          <p:cNvPr id="11" name="Text 8"/>
          <p:cNvSpPr txBox="1"/>
          <p:nvPr/>
        </p:nvSpPr>
        <p:spPr>
          <a:xfrm>
            <a:off x="8138160" y="3995928"/>
            <a:ext cx="3520440" cy="45720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delay for 200 mV down to 10 mV overdrive</a:t>
            </a:r>
            <a:endParaRPr lang="en-US" sz="1400" dirty="0"/>
          </a:p>
        </p:txBody>
      </p:sp>
      <p:sp>
        <p:nvSpPr>
          <p:cNvPr id="12" name="Text 9"/>
          <p:cNvSpPr txBox="1"/>
          <p:nvPr/>
        </p:nvSpPr>
        <p:spPr>
          <a:xfrm>
            <a:off x="8138160" y="4535424"/>
            <a:ext cx="3520440" cy="502920"/>
          </a:xfrm>
          <a:prstGeom prst="rect">
            <a:avLst/>
          </a:prstGeom>
          <a:noFill/>
          <a:ln/>
        </p:spPr>
        <p:txBody>
          <a:bodyPr wrap="square" lIns="0" tIns="0" rIns="0" bIns="0" rtlCol="0" anchor="t"/>
          <a:lstStyle/>
          <a:p>
            <a:pPr indent="0" marL="0">
              <a:spcAft>
                <a:spcPts val="600"/>
              </a:spcAft>
              <a:buNone/>
            </a:pPr>
            <a:r>
              <a:rPr lang="en-US" sz="2600" b="1" dirty="0">
                <a:solidFill>
                  <a:schemeClr val="accent1"/>
                </a:solidFill>
                <a:latin typeface="Cambria" pitchFamily="34" charset="0"/>
                <a:ea typeface="Cambria" pitchFamily="34" charset="-122"/>
                <a:cs typeface="Cambria" pitchFamily="34" charset="-120"/>
              </a:rPr>
              <a:t>5.5 mV</a:t>
            </a:r>
            <a:endParaRPr lang="en-US" sz="2600" dirty="0"/>
          </a:p>
        </p:txBody>
      </p:sp>
      <p:sp>
        <p:nvSpPr>
          <p:cNvPr id="13" name="Text 10"/>
          <p:cNvSpPr txBox="1"/>
          <p:nvPr/>
        </p:nvSpPr>
        <p:spPr>
          <a:xfrm>
            <a:off x="8138160" y="5020056"/>
            <a:ext cx="3520440" cy="45720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random offset spread (1σ), see backup</a:t>
            </a:r>
            <a:endParaRPr lang="en-US" sz="14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BLOCK 3 · COMPARATOR</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ADJ moves the trip point linearly; small overdrive makes it slow</a:t>
            </a:r>
            <a:endParaRPr lang="en-US" sz="2800" dirty="0"/>
          </a:p>
        </p:txBody>
      </p:sp>
      <p:graphicFrame>
        <p:nvGraphicFramePr>
          <p:cNvPr id="4" name="chart-offset" descr=""/>
          <p:cNvGraphicFramePr/>
          <p:nvPr/>
        </p:nvGraphicFramePr>
        <p:xfrm>
          <a:off x="548640" y="1463040"/>
          <a:ext cx="539496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delay" descr=""/>
          <p:cNvGraphicFramePr/>
          <p:nvPr/>
        </p:nvGraphicFramePr>
        <p:xfrm>
          <a:off x="6263640" y="1463040"/>
          <a:ext cx="5376672" cy="393192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5623560"/>
            <a:ext cx="11094415" cy="45720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Zero offset at ADJ ≈ 0.76 V, slope ≈ 360 mV of trip shift per volt of ADJ. Both ADCs use ADJ = 0.75 V.</a:t>
            </a:r>
            <a:endParaRPr lang="en-US" sz="15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ADC 1 · 3-BIT FLASH</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Seven comparators and a ladder: all bits in one step</a:t>
            </a:r>
            <a:endParaRPr lang="en-US" sz="2800" dirty="0"/>
          </a:p>
        </p:txBody>
      </p:sp>
      <p:pic>
        <p:nvPicPr>
          <p:cNvPr id="4" name="c_sch_flash_adc3.png" descr="Flash ADC schematic">    </p:cNvPr>
          <p:cNvPicPr>
            <a:picLocks noChangeAspect="1"/>
          </p:cNvPicPr>
          <p:nvPr/>
        </p:nvPicPr>
        <p:blipFill>
          <a:blip r:embed="rId1"/>
          <a:stretch>
            <a:fillRect/>
          </a:stretch>
        </p:blipFill>
        <p:spPr>
          <a:xfrm>
            <a:off x="750999" y="1417320"/>
            <a:ext cx="3801522" cy="3429000"/>
          </a:xfrm>
          <a:prstGeom prst="rect">
            <a:avLst/>
          </a:prstGeom>
        </p:spPr>
      </p:pic>
      <p:sp>
        <p:nvSpPr>
          <p:cNvPr id="5" name="Text 2"/>
          <p:cNvSpPr txBox="1"/>
          <p:nvPr/>
        </p:nvSpPr>
        <p:spPr>
          <a:xfrm>
            <a:off x="548640" y="4892040"/>
            <a:ext cx="4206240" cy="274320"/>
          </a:xfrm>
          <a:prstGeom prst="rect">
            <a:avLst/>
          </a:prstGeom>
          <a:noFill/>
          <a:ln/>
        </p:spPr>
        <p:txBody>
          <a:bodyPr wrap="square" lIns="0" tIns="0" rIns="0" bIns="0" rtlCol="0" anchor="t"/>
          <a:lstStyle/>
          <a:p>
            <a:pPr indent="0" marL="0">
              <a:spcAft>
                <a:spcPts val="600"/>
              </a:spcAft>
              <a:buNone/>
            </a:pPr>
            <a:r>
              <a:rPr lang="en-US" sz="1100" i="1" dirty="0">
                <a:solidFill>
                  <a:schemeClr val="accent6"/>
                </a:solidFill>
              </a:rPr>
              <a:t>flash_adc3.sch: 8 × 22.9 kΩ poly ladder, 7 comparators, thermometer-to-binary encoder</a:t>
            </a:r>
            <a:endParaRPr lang="en-US" sz="1100" dirty="0"/>
          </a:p>
        </p:txBody>
      </p:sp>
      <p:pic>
        <p:nvPicPr>
          <p:cNvPr id="6" name="plot_flash.png" descr="Flash ADC output code vs input">    </p:cNvPr>
          <p:cNvPicPr>
            <a:picLocks noChangeAspect="1"/>
          </p:cNvPicPr>
          <p:nvPr/>
        </p:nvPicPr>
        <p:blipFill>
          <a:blip r:embed="rId2"/>
          <a:stretch>
            <a:fillRect/>
          </a:stretch>
        </p:blipFill>
        <p:spPr>
          <a:xfrm>
            <a:off x="4983480" y="1483455"/>
            <a:ext cx="6656832" cy="3251011"/>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983480" y="4937760"/>
          <a:ext cx="6656832" cy="914400"/>
        </p:xfrm>
        <a:graphic>
          <a:graphicData uri="http://schemas.openxmlformats.org/drawingml/2006/table">
            <a:tbl>
              <a:tblPr/>
              <a:tblGrid>
                <a:gridCol w="1755648"/>
                <a:gridCol w="699516"/>
                <a:gridCol w="699516"/>
                <a:gridCol w="699516"/>
                <a:gridCol w="699516"/>
                <a:gridCol w="699516"/>
                <a:gridCol w="699516"/>
                <a:gridCol w="699516"/>
              </a:tblGrid>
              <a:tr h="329184">
                <a:tc>
                  <a:txBody>
                    <a:bodyPr/>
                    <a:lstStyle/>
                    <a:p>
                      <a:pPr indent="0" marL="0">
                        <a:buNone/>
                      </a:pPr>
                      <a:r>
                        <a:rPr lang="en-US" sz="1300" b="1" dirty="0">
                          <a:solidFill>
                            <a:srgbClr val="1D2B36"/>
                          </a:solidFill>
                        </a:rPr>
                        <a:t>Threshold (V)</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0.1</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0.2</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0.3</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0.4</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0.5</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0.6</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0.7</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r>
              <a:tr h="329184">
                <a:tc>
                  <a:txBody>
                    <a:bodyPr/>
                    <a:lstStyle/>
                    <a:p>
                      <a:pPr indent="0" marL="0">
                        <a:buNone/>
                      </a:pPr>
                      <a:r>
                        <a:rPr lang="en-US" sz="1300" dirty="0">
                          <a:solidFill>
                            <a:srgbClr val="1D2B36"/>
                          </a:solidFill>
                        </a:rPr>
                        <a:t>Measured, ramp (V)</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0.098</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0.199</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0.298</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0.397</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0.498</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0.597</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0.697</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bl>
          </a:graphicData>
        </a:graphic>
      </p:graphicFrame>
      <p:sp>
        <p:nvSpPr>
          <p:cNvPr id="8" name="Text 3"/>
          <p:cNvSpPr txBox="1"/>
          <p:nvPr/>
        </p:nvSpPr>
        <p:spPr>
          <a:xfrm>
            <a:off x="4983480" y="5715000"/>
            <a:ext cx="6656832" cy="36576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All 8 codes correct; every threshold within 3.5 mV of ideal.</a:t>
            </a:r>
            <a:endParaRPr lang="en-US" sz="15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ADC 2 · 3-BIT SAR</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One comparator, a binary-weighted CDAC, and gate-level SAR logic</a:t>
            </a:r>
            <a:endParaRPr lang="en-US" sz="2800" dirty="0"/>
          </a:p>
        </p:txBody>
      </p:sp>
      <p:pic>
        <p:nvPicPr>
          <p:cNvPr id="4" name="c_sch_sar_adc3.png" descr="SAR ADC top level">    </p:cNvPr>
          <p:cNvPicPr>
            <a:picLocks noChangeAspect="1"/>
          </p:cNvPicPr>
          <p:nvPr/>
        </p:nvPicPr>
        <p:blipFill>
          <a:blip r:embed="rId1"/>
          <a:stretch>
            <a:fillRect/>
          </a:stretch>
        </p:blipFill>
        <p:spPr>
          <a:xfrm>
            <a:off x="548640" y="1507386"/>
            <a:ext cx="6949440" cy="1374348"/>
          </a:xfrm>
          <a:prstGeom prst="rect">
            <a:avLst/>
          </a:prstGeom>
        </p:spPr>
      </p:pic>
      <p:sp>
        <p:nvSpPr>
          <p:cNvPr id="5" name="Text 2"/>
          <p:cNvSpPr txBox="1"/>
          <p:nvPr/>
        </p:nvSpPr>
        <p:spPr>
          <a:xfrm>
            <a:off x="548640" y="2971800"/>
            <a:ext cx="6949440" cy="274320"/>
          </a:xfrm>
          <a:prstGeom prst="rect">
            <a:avLst/>
          </a:prstGeom>
          <a:noFill/>
          <a:ln/>
        </p:spPr>
        <p:txBody>
          <a:bodyPr wrap="square" lIns="0" tIns="0" rIns="0" bIns="0" rtlCol="0" anchor="t"/>
          <a:lstStyle/>
          <a:p>
            <a:pPr indent="0" marL="0">
              <a:spcAft>
                <a:spcPts val="600"/>
              </a:spcAft>
              <a:buNone/>
            </a:pPr>
            <a:r>
              <a:rPr lang="en-US" sz="1100" i="1" dirty="0">
                <a:solidFill>
                  <a:schemeClr val="accent6"/>
                </a:solidFill>
              </a:rPr>
              <a:t>sar_adc3.sch: comparator (VIN vs REF) → SAR logic → CDAC makes REF</a:t>
            </a:r>
            <a:endParaRPr lang="en-US" sz="1100" dirty="0"/>
          </a:p>
        </p:txBody>
      </p:sp>
      <p:sp>
        <p:nvSpPr>
          <p:cNvPr id="6" name="cdac-panel"/>
          <p:cNvSpPr/>
          <p:nvPr/>
        </p:nvSpPr>
        <p:spPr>
          <a:xfrm>
            <a:off x="548640" y="3429000"/>
            <a:ext cx="6949440" cy="2514600"/>
          </a:xfrm>
          <a:prstGeom prst="roundRect">
            <a:avLst>
              <a:gd name="adj" fmla="val 2909"/>
            </a:avLst>
          </a:prstGeom>
          <a:solidFill>
            <a:schemeClr val="bg2"/>
          </a:solidFill>
          <a:ln w="12700">
            <a:solidFill>
              <a:schemeClr val="bg2"/>
            </a:solidFill>
            <a:prstDash val="solid"/>
          </a:ln>
        </p:spPr>
      </p:sp>
      <p:sp>
        <p:nvSpPr>
          <p:cNvPr id="7" name="Text 4"/>
          <p:cNvSpPr txBox="1"/>
          <p:nvPr/>
        </p:nvSpPr>
        <p:spPr>
          <a:xfrm>
            <a:off x="822960" y="3584448"/>
            <a:ext cx="6400800" cy="36576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Capacitive DAC (cdac3)</a:t>
            </a:r>
            <a:endParaRPr lang="en-US" sz="1600" dirty="0"/>
          </a:p>
        </p:txBody>
      </p:sp>
      <p:sp>
        <p:nvSpPr>
          <p:cNvPr id="8" name="cap-0"/>
          <p:cNvSpPr/>
          <p:nvPr/>
        </p:nvSpPr>
        <p:spPr>
          <a:xfrm>
            <a:off x="914400" y="4069080"/>
            <a:ext cx="914400" cy="685800"/>
          </a:xfrm>
          <a:prstGeom prst="roundRect">
            <a:avLst>
              <a:gd name="adj" fmla="val 8000"/>
            </a:avLst>
          </a:prstGeom>
          <a:solidFill>
            <a:schemeClr val="bg1"/>
          </a:solidFill>
          <a:ln w="12700">
            <a:solidFill>
              <a:schemeClr val="accent3"/>
            </a:solidFill>
            <a:prstDash val="solid"/>
          </a:ln>
        </p:spPr>
      </p:sp>
      <p:sp>
        <p:nvSpPr>
          <p:cNvPr id="9" name="Text 6"/>
          <p:cNvSpPr txBox="1"/>
          <p:nvPr/>
        </p:nvSpPr>
        <p:spPr>
          <a:xfrm>
            <a:off x="914400" y="4114800"/>
            <a:ext cx="914400" cy="320040"/>
          </a:xfrm>
          <a:prstGeom prst="rect">
            <a:avLst/>
          </a:prstGeom>
          <a:noFill/>
          <a:ln/>
        </p:spPr>
        <p:txBody>
          <a:bodyPr wrap="square" lIns="0" tIns="0" rIns="0" bIns="0" rtlCol="0" anchor="t"/>
          <a:lstStyle/>
          <a:p>
            <a:pPr algn="ctr" indent="0" marL="0">
              <a:spcAft>
                <a:spcPts val="600"/>
              </a:spcAft>
              <a:buNone/>
            </a:pPr>
            <a:r>
              <a:rPr lang="en-US" sz="1700" b="1" dirty="0">
                <a:solidFill>
                  <a:schemeClr val="tx1"/>
                </a:solidFill>
              </a:rPr>
              <a:t>4C</a:t>
            </a:r>
            <a:endParaRPr lang="en-US" sz="1700" dirty="0"/>
          </a:p>
        </p:txBody>
      </p:sp>
      <p:sp>
        <p:nvSpPr>
          <p:cNvPr id="10" name="Text 7"/>
          <p:cNvSpPr txBox="1"/>
          <p:nvPr/>
        </p:nvSpPr>
        <p:spPr>
          <a:xfrm>
            <a:off x="914400" y="4434840"/>
            <a:ext cx="914400" cy="274320"/>
          </a:xfrm>
          <a:prstGeom prst="rect">
            <a:avLst/>
          </a:prstGeom>
          <a:noFill/>
          <a:ln/>
        </p:spPr>
        <p:txBody>
          <a:bodyPr wrap="square" lIns="0" tIns="0" rIns="0" bIns="0" rtlCol="0" anchor="t"/>
          <a:lstStyle/>
          <a:p>
            <a:pPr algn="ctr" indent="0" marL="0">
              <a:spcAft>
                <a:spcPts val="600"/>
              </a:spcAft>
              <a:buNone/>
            </a:pPr>
            <a:r>
              <a:rPr lang="en-US" sz="1200" dirty="0">
                <a:solidFill>
                  <a:schemeClr val="accent6"/>
                </a:solidFill>
              </a:rPr>
              <a:t>D2</a:t>
            </a:r>
            <a:endParaRPr lang="en-US" sz="1200" dirty="0"/>
          </a:p>
        </p:txBody>
      </p:sp>
      <p:sp>
        <p:nvSpPr>
          <p:cNvPr id="11" name="cap-1"/>
          <p:cNvSpPr/>
          <p:nvPr/>
        </p:nvSpPr>
        <p:spPr>
          <a:xfrm>
            <a:off x="2057400" y="4069080"/>
            <a:ext cx="914400" cy="685800"/>
          </a:xfrm>
          <a:prstGeom prst="roundRect">
            <a:avLst>
              <a:gd name="adj" fmla="val 8000"/>
            </a:avLst>
          </a:prstGeom>
          <a:solidFill>
            <a:schemeClr val="bg1"/>
          </a:solidFill>
          <a:ln w="12700">
            <a:solidFill>
              <a:schemeClr val="accent3"/>
            </a:solidFill>
            <a:prstDash val="solid"/>
          </a:ln>
        </p:spPr>
      </p:sp>
      <p:sp>
        <p:nvSpPr>
          <p:cNvPr id="12" name="Text 9"/>
          <p:cNvSpPr txBox="1"/>
          <p:nvPr/>
        </p:nvSpPr>
        <p:spPr>
          <a:xfrm>
            <a:off x="2057400" y="4114800"/>
            <a:ext cx="914400" cy="320040"/>
          </a:xfrm>
          <a:prstGeom prst="rect">
            <a:avLst/>
          </a:prstGeom>
          <a:noFill/>
          <a:ln/>
        </p:spPr>
        <p:txBody>
          <a:bodyPr wrap="square" lIns="0" tIns="0" rIns="0" bIns="0" rtlCol="0" anchor="t"/>
          <a:lstStyle/>
          <a:p>
            <a:pPr algn="ctr" indent="0" marL="0">
              <a:spcAft>
                <a:spcPts val="600"/>
              </a:spcAft>
              <a:buNone/>
            </a:pPr>
            <a:r>
              <a:rPr lang="en-US" sz="1700" b="1" dirty="0">
                <a:solidFill>
                  <a:schemeClr val="tx1"/>
                </a:solidFill>
              </a:rPr>
              <a:t>2C</a:t>
            </a:r>
            <a:endParaRPr lang="en-US" sz="1700" dirty="0"/>
          </a:p>
        </p:txBody>
      </p:sp>
      <p:sp>
        <p:nvSpPr>
          <p:cNvPr id="13" name="Text 10"/>
          <p:cNvSpPr txBox="1"/>
          <p:nvPr/>
        </p:nvSpPr>
        <p:spPr>
          <a:xfrm>
            <a:off x="2057400" y="4434840"/>
            <a:ext cx="914400" cy="274320"/>
          </a:xfrm>
          <a:prstGeom prst="rect">
            <a:avLst/>
          </a:prstGeom>
          <a:noFill/>
          <a:ln/>
        </p:spPr>
        <p:txBody>
          <a:bodyPr wrap="square" lIns="0" tIns="0" rIns="0" bIns="0" rtlCol="0" anchor="t"/>
          <a:lstStyle/>
          <a:p>
            <a:pPr algn="ctr" indent="0" marL="0">
              <a:spcAft>
                <a:spcPts val="600"/>
              </a:spcAft>
              <a:buNone/>
            </a:pPr>
            <a:r>
              <a:rPr lang="en-US" sz="1200" dirty="0">
                <a:solidFill>
                  <a:schemeClr val="accent6"/>
                </a:solidFill>
              </a:rPr>
              <a:t>D1</a:t>
            </a:r>
            <a:endParaRPr lang="en-US" sz="1200" dirty="0"/>
          </a:p>
        </p:txBody>
      </p:sp>
      <p:sp>
        <p:nvSpPr>
          <p:cNvPr id="14" name="cap-2"/>
          <p:cNvSpPr/>
          <p:nvPr/>
        </p:nvSpPr>
        <p:spPr>
          <a:xfrm>
            <a:off x="3200400" y="4069080"/>
            <a:ext cx="914400" cy="685800"/>
          </a:xfrm>
          <a:prstGeom prst="roundRect">
            <a:avLst>
              <a:gd name="adj" fmla="val 8000"/>
            </a:avLst>
          </a:prstGeom>
          <a:solidFill>
            <a:schemeClr val="bg1"/>
          </a:solidFill>
          <a:ln w="12700">
            <a:solidFill>
              <a:schemeClr val="accent3"/>
            </a:solidFill>
            <a:prstDash val="solid"/>
          </a:ln>
        </p:spPr>
      </p:sp>
      <p:sp>
        <p:nvSpPr>
          <p:cNvPr id="15" name="Text 12"/>
          <p:cNvSpPr txBox="1"/>
          <p:nvPr/>
        </p:nvSpPr>
        <p:spPr>
          <a:xfrm>
            <a:off x="3200400" y="4114800"/>
            <a:ext cx="914400" cy="320040"/>
          </a:xfrm>
          <a:prstGeom prst="rect">
            <a:avLst/>
          </a:prstGeom>
          <a:noFill/>
          <a:ln/>
        </p:spPr>
        <p:txBody>
          <a:bodyPr wrap="square" lIns="0" tIns="0" rIns="0" bIns="0" rtlCol="0" anchor="t"/>
          <a:lstStyle/>
          <a:p>
            <a:pPr algn="ctr" indent="0" marL="0">
              <a:spcAft>
                <a:spcPts val="600"/>
              </a:spcAft>
              <a:buNone/>
            </a:pPr>
            <a:r>
              <a:rPr lang="en-US" sz="1700" b="1" dirty="0">
                <a:solidFill>
                  <a:schemeClr val="tx1"/>
                </a:solidFill>
              </a:rPr>
              <a:t>C</a:t>
            </a:r>
            <a:endParaRPr lang="en-US" sz="1700" dirty="0"/>
          </a:p>
        </p:txBody>
      </p:sp>
      <p:sp>
        <p:nvSpPr>
          <p:cNvPr id="16" name="Text 13"/>
          <p:cNvSpPr txBox="1"/>
          <p:nvPr/>
        </p:nvSpPr>
        <p:spPr>
          <a:xfrm>
            <a:off x="3200400" y="4434840"/>
            <a:ext cx="914400" cy="274320"/>
          </a:xfrm>
          <a:prstGeom prst="rect">
            <a:avLst/>
          </a:prstGeom>
          <a:noFill/>
          <a:ln/>
        </p:spPr>
        <p:txBody>
          <a:bodyPr wrap="square" lIns="0" tIns="0" rIns="0" bIns="0" rtlCol="0" anchor="t"/>
          <a:lstStyle/>
          <a:p>
            <a:pPr algn="ctr" indent="0" marL="0">
              <a:spcAft>
                <a:spcPts val="600"/>
              </a:spcAft>
              <a:buNone/>
            </a:pPr>
            <a:r>
              <a:rPr lang="en-US" sz="1200" dirty="0">
                <a:solidFill>
                  <a:schemeClr val="accent6"/>
                </a:solidFill>
              </a:rPr>
              <a:t>D0</a:t>
            </a:r>
            <a:endParaRPr lang="en-US" sz="1200" dirty="0"/>
          </a:p>
        </p:txBody>
      </p:sp>
      <p:sp>
        <p:nvSpPr>
          <p:cNvPr id="17" name="cap-3"/>
          <p:cNvSpPr/>
          <p:nvPr/>
        </p:nvSpPr>
        <p:spPr>
          <a:xfrm>
            <a:off x="4343400" y="4069080"/>
            <a:ext cx="914400" cy="685800"/>
          </a:xfrm>
          <a:prstGeom prst="roundRect">
            <a:avLst>
              <a:gd name="adj" fmla="val 8000"/>
            </a:avLst>
          </a:prstGeom>
          <a:solidFill>
            <a:schemeClr val="bg1"/>
          </a:solidFill>
          <a:ln w="12700">
            <a:solidFill>
              <a:schemeClr val="accent3"/>
            </a:solidFill>
            <a:prstDash val="solid"/>
          </a:ln>
        </p:spPr>
      </p:sp>
      <p:sp>
        <p:nvSpPr>
          <p:cNvPr id="18" name="Text 15"/>
          <p:cNvSpPr txBox="1"/>
          <p:nvPr/>
        </p:nvSpPr>
        <p:spPr>
          <a:xfrm>
            <a:off x="4343400" y="4114800"/>
            <a:ext cx="914400" cy="320040"/>
          </a:xfrm>
          <a:prstGeom prst="rect">
            <a:avLst/>
          </a:prstGeom>
          <a:noFill/>
          <a:ln/>
        </p:spPr>
        <p:txBody>
          <a:bodyPr wrap="square" lIns="0" tIns="0" rIns="0" bIns="0" rtlCol="0" anchor="t"/>
          <a:lstStyle/>
          <a:p>
            <a:pPr algn="ctr" indent="0" marL="0">
              <a:spcAft>
                <a:spcPts val="600"/>
              </a:spcAft>
              <a:buNone/>
            </a:pPr>
            <a:r>
              <a:rPr lang="en-US" sz="1700" b="1" dirty="0">
                <a:solidFill>
                  <a:schemeClr val="tx1"/>
                </a:solidFill>
              </a:rPr>
              <a:t>C</a:t>
            </a:r>
            <a:endParaRPr lang="en-US" sz="1700" dirty="0"/>
          </a:p>
        </p:txBody>
      </p:sp>
      <p:sp>
        <p:nvSpPr>
          <p:cNvPr id="19" name="Text 16"/>
          <p:cNvSpPr txBox="1"/>
          <p:nvPr/>
        </p:nvSpPr>
        <p:spPr>
          <a:xfrm>
            <a:off x="4343400" y="4434840"/>
            <a:ext cx="914400" cy="274320"/>
          </a:xfrm>
          <a:prstGeom prst="rect">
            <a:avLst/>
          </a:prstGeom>
          <a:noFill/>
          <a:ln/>
        </p:spPr>
        <p:txBody>
          <a:bodyPr wrap="square" lIns="0" tIns="0" rIns="0" bIns="0" rtlCol="0" anchor="t"/>
          <a:lstStyle/>
          <a:p>
            <a:pPr algn="ctr" indent="0" marL="0">
              <a:spcAft>
                <a:spcPts val="600"/>
              </a:spcAft>
              <a:buNone/>
            </a:pPr>
            <a:r>
              <a:rPr lang="en-US" sz="1200" dirty="0">
                <a:solidFill>
                  <a:schemeClr val="accent6"/>
                </a:solidFill>
              </a:rPr>
              <a:t>dummy</a:t>
            </a:r>
            <a:endParaRPr lang="en-US" sz="1200" dirty="0"/>
          </a:p>
        </p:txBody>
      </p:sp>
      <p:sp>
        <p:nvSpPr>
          <p:cNvPr id="20" name="Text 17"/>
          <p:cNvSpPr txBox="1"/>
          <p:nvPr/>
        </p:nvSpPr>
        <p:spPr>
          <a:xfrm>
            <a:off x="5532120" y="4114800"/>
            <a:ext cx="1828800" cy="64008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common top plate = REF, grounded during RST</a:t>
            </a:r>
            <a:endParaRPr lang="en-US" sz="1300" dirty="0"/>
          </a:p>
        </p:txBody>
      </p:sp>
      <p:sp>
        <p:nvSpPr>
          <p:cNvPr id="21" name="Text 18"/>
          <p:cNvSpPr txBox="1"/>
          <p:nvPr/>
        </p:nvSpPr>
        <p:spPr>
          <a:xfrm>
            <a:off x="914400" y="4937760"/>
            <a:ext cx="6400800" cy="914400"/>
          </a:xfrm>
          <a:prstGeom prst="rect">
            <a:avLst/>
          </a:prstGeom>
          <a:noFill/>
          <a:ln/>
        </p:spPr>
        <p:txBody>
          <a:bodyPr wrap="square" lIns="0" tIns="0" rIns="0" bIns="0" rtlCol="0" anchor="t"/>
          <a:lstStyle/>
          <a:p>
            <a:pPr indent="0" marL="0">
              <a:spcAft>
                <a:spcPts val="600"/>
              </a:spcAft>
              <a:buNone/>
            </a:pPr>
            <a:r>
              <a:rPr lang="en-US" sz="1700" b="1" dirty="0">
                <a:solidFill>
                  <a:srgbClr val="C8553D"/>
                </a:solidFill>
                <a:latin typeface="Cambria" pitchFamily="34" charset="0"/>
                <a:ea typeface="Cambria" pitchFamily="34" charset="-122"/>
                <a:cs typeface="Cambria" pitchFamily="34" charset="-120"/>
              </a:rPr>
              <a:t>REF = VREF · (4·D2 + 2·D1 + D0) / 8</a:t>
            </a:r>
            <a:endParaRPr lang="en-US" sz="1700" dirty="0"/>
          </a:p>
          <a:p>
            <a:pPr indent="0" marL="0">
              <a:spcAft>
                <a:spcPts val="600"/>
              </a:spcAft>
              <a:buNone/>
            </a:pPr>
            <a:r>
              <a:rPr lang="en-US" sz="1300" dirty="0">
                <a:solidFill>
                  <a:srgbClr val="3B4A55"/>
                </a:solidFill>
                <a:latin typeface="Cambria" pitchFamily="34" charset="0"/>
                <a:ea typeface="Cambria" pitchFamily="34" charset="-122"/>
                <a:cs typeface="Cambria" pitchFamily="34" charset="-120"/>
              </a:rPr>
              <a:t>Bottom plates are driven to VREF (bit 1) or 0 (bit 0) by inverters; C = 1 pF MIM.</a:t>
            </a:r>
            <a:endParaRPr lang="en-US" sz="1700" dirty="0"/>
          </a:p>
        </p:txBody>
      </p:sp>
      <p:pic>
        <p:nvPicPr>
          <p:cNvPr id="22" name="c_sch_sar_logic3_simple.png" descr="Gate-level SAR logic">    </p:cNvPr>
          <p:cNvPicPr>
            <a:picLocks noChangeAspect="1"/>
          </p:cNvPicPr>
          <p:nvPr/>
        </p:nvPicPr>
        <p:blipFill>
          <a:blip r:embed="rId2"/>
          <a:stretch>
            <a:fillRect/>
          </a:stretch>
        </p:blipFill>
        <p:spPr>
          <a:xfrm>
            <a:off x="8250600" y="1417320"/>
            <a:ext cx="2957232" cy="3931920"/>
          </a:xfrm>
          <a:prstGeom prst="rect">
            <a:avLst/>
          </a:prstGeom>
        </p:spPr>
      </p:pic>
      <p:sp>
        <p:nvSpPr>
          <p:cNvPr id="23" name="Text 19"/>
          <p:cNvSpPr txBox="1"/>
          <p:nvPr/>
        </p:nvSpPr>
        <p:spPr>
          <a:xfrm>
            <a:off x="7818120" y="5394960"/>
            <a:ext cx="3822192" cy="274320"/>
          </a:xfrm>
          <a:prstGeom prst="rect">
            <a:avLst/>
          </a:prstGeom>
          <a:noFill/>
          <a:ln/>
        </p:spPr>
        <p:txBody>
          <a:bodyPr wrap="square" lIns="0" tIns="0" rIns="0" bIns="0" rtlCol="0" anchor="t"/>
          <a:lstStyle/>
          <a:p>
            <a:pPr indent="0" marL="0">
              <a:spcAft>
                <a:spcPts val="600"/>
              </a:spcAft>
              <a:buNone/>
            </a:pPr>
            <a:r>
              <a:rPr lang="en-US" sz="1100" i="1" dirty="0">
                <a:solidFill>
                  <a:schemeClr val="accent6"/>
                </a:solidFill>
              </a:rPr>
              <a:t>sar_logic3_simple.sch: 2 inverters, 6 NAND2, 6 NOR2 (52 transistors). Each bit is a NOR SR latch.</a:t>
            </a:r>
            <a:endParaRPr lang="en-US" sz="11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ADC 2 · 3-BIT SAR</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Binary search in three trials: VIN = 0.55 V gives code 101</a:t>
            </a:r>
            <a:endParaRPr lang="en-US" sz="2800" dirty="0"/>
          </a:p>
        </p:txBody>
      </p:sp>
      <p:pic>
        <p:nvPicPr>
          <p:cNvPr id="4" name="plot_sar.png" descr="SAR conversion timing diagram">    </p:cNvPr>
          <p:cNvPicPr>
            <a:picLocks noChangeAspect="1"/>
          </p:cNvPicPr>
          <p:nvPr/>
        </p:nvPicPr>
        <p:blipFill>
          <a:blip r:embed="rId1"/>
          <a:stretch>
            <a:fillRect/>
          </a:stretch>
        </p:blipFill>
        <p:spPr>
          <a:xfrm>
            <a:off x="548640" y="1450813"/>
            <a:ext cx="7223760" cy="4367855"/>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046720" y="1508760"/>
          <a:ext cx="3593592" cy="914400"/>
        </p:xfrm>
        <a:graphic>
          <a:graphicData uri="http://schemas.openxmlformats.org/drawingml/2006/table">
            <a:tbl>
              <a:tblPr/>
              <a:tblGrid>
                <a:gridCol w="1234440"/>
                <a:gridCol w="731520"/>
                <a:gridCol w="896112"/>
                <a:gridCol w="731520"/>
              </a:tblGrid>
              <a:tr h="384048">
                <a:tc>
                  <a:txBody>
                    <a:bodyPr/>
                    <a:lstStyle/>
                    <a:p>
                      <a:pPr indent="0" marL="0">
                        <a:buNone/>
                      </a:pPr>
                      <a:r>
                        <a:rPr lang="en-US" sz="1300" b="1" dirty="0">
                          <a:solidFill>
                            <a:srgbClr val="1D2B36"/>
                          </a:solidFill>
                        </a:rPr>
                        <a:t>Phase</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REF</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VIN &gt; REF?</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Bit</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r>
              <a:tr h="384048">
                <a:tc>
                  <a:txBody>
                    <a:bodyPr/>
                    <a:lstStyle/>
                    <a:p>
                      <a:pPr indent="0" marL="0">
                        <a:buNone/>
                      </a:pPr>
                      <a:r>
                        <a:rPr lang="en-US" sz="1300" dirty="0">
                          <a:solidFill>
                            <a:srgbClr val="1D2B36"/>
                          </a:solidFill>
                        </a:rPr>
                        <a:t>TRY2 / DEC2</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0.4 V</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D2 = 1</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TRY1 / DEC1</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0.6 V</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no</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D1 = 0</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TRY0 / DEC0</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0.5 V</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yes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D0 = 1</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bl>
          </a:graphicData>
        </a:graphic>
      </p:graphicFrame>
      <p:sp>
        <p:nvSpPr>
          <p:cNvPr id="6" name="Text 2"/>
          <p:cNvSpPr txBox="1"/>
          <p:nvPr/>
        </p:nvSpPr>
        <p:spPr>
          <a:xfrm>
            <a:off x="8046720" y="3246120"/>
            <a:ext cx="3593592" cy="2834640"/>
          </a:xfrm>
          <a:prstGeom prst="rect">
            <a:avLst/>
          </a:prstGeom>
          <a:noFill/>
          <a:ln/>
        </p:spPr>
        <p:txBody>
          <a:bodyPr wrap="square" lIns="0" tIns="0" rIns="0" bIns="0" rtlCol="0" anchor="t"/>
          <a:lstStyle/>
          <a:p>
            <a:pPr indent="0" marL="0">
              <a:spcAft>
                <a:spcPts val="600"/>
              </a:spcAft>
              <a:buNone/>
            </a:pPr>
            <a:r>
              <a:rPr lang="en-US" sz="1400" b="1" dirty="0">
                <a:solidFill>
                  <a:srgbClr val="C8553D"/>
                </a:solidFill>
              </a:rPr>
              <a:t>Who makes the 7 phases</a:t>
            </a:r>
            <a:endParaRPr lang="en-US" sz="1400" dirty="0"/>
          </a:p>
          <a:p>
            <a:pPr indent="0" marL="0">
              <a:spcAft>
                <a:spcPts val="600"/>
              </a:spcAft>
              <a:buNone/>
            </a:pPr>
            <a:r>
              <a:rPr lang="en-US" sz="1400" dirty="0">
                <a:solidFill>
                  <a:schemeClr val="tx1"/>
                </a:solidFill>
              </a:rPr>
              <a:t>Ideal sources today. Every edge sits on a 50 ns grid, so a 6-bit counter clocked at 20 MHz plus a small decoder can make RST, TRY and DEC (and the shift-add RST/SHARE).</a:t>
            </a:r>
            <a:endParaRPr lang="en-US" sz="1400" dirty="0"/>
          </a:p>
          <a:p>
            <a:pPr indent="0" marL="0">
              <a:spcAft>
                <a:spcPts val="600"/>
              </a:spcAft>
              <a:buNone/>
            </a:pPr>
            <a:r>
              <a:rPr lang="en-US" sz="600" dirty="0">
                <a:solidFill>
                  <a:schemeClr val="tx1"/>
                </a:solidFill>
              </a:rPr>
              <a:t> </a:t>
            </a:r>
            <a:endParaRPr lang="en-US" sz="1400" dirty="0"/>
          </a:p>
          <a:p>
            <a:pPr indent="0" marL="0">
              <a:spcAft>
                <a:spcPts val="600"/>
              </a:spcAft>
              <a:buNone/>
            </a:pPr>
            <a:r>
              <a:rPr lang="en-US" sz="1400" b="1" dirty="0">
                <a:solidFill>
                  <a:srgbClr val="C8553D"/>
                </a:solidFill>
              </a:rPr>
              <a:t>What sets the speed</a:t>
            </a:r>
            <a:endParaRPr lang="en-US" sz="1400" dirty="0"/>
          </a:p>
          <a:p>
            <a:pPr indent="0" marL="0">
              <a:spcAft>
                <a:spcPts val="600"/>
              </a:spcAft>
              <a:buNone/>
            </a:pPr>
            <a:r>
              <a:rPr lang="en-US" sz="1400" dirty="0">
                <a:solidFill>
                  <a:schemeClr val="tx1"/>
                </a:solidFill>
              </a:rPr>
              <a:t>REF needs about 200 ns to settle after each trial (8 pF driven from 0.8 V). Halving all phases still works; 0.3× fails.</a:t>
            </a:r>
            <a:endParaRPr lang="en-US" sz="14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FLASH vs SAR</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Same comparator, 3 bits: flash is faster, SAR is smaller</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840480"/>
                <a:gridCol w="2148840"/>
                <a:gridCol w="3611880"/>
                <a:gridCol w="1490472"/>
              </a:tblGrid>
              <a:tr h="384048">
                <a:tc>
                  <a:txBody>
                    <a:bodyPr/>
                    <a:lstStyle/>
                    <a:p>
                      <a:pPr indent="0" marL="0">
                        <a:buNone/>
                      </a:pPr>
                      <a:r>
                        <a:rPr lang="en-US" sz="1300" b="1" dirty="0">
                          <a:solidFill>
                            <a:srgbClr val="1D2B36"/>
                          </a:solidFill>
                        </a:rPr>
                        <a:t>Metric</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Flash</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SAR</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Better</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r>
              <a:tr h="384048">
                <a:tc>
                  <a:txBody>
                    <a:bodyPr/>
                    <a:lstStyle/>
                    <a:p>
                      <a:pPr indent="0" marL="0">
                        <a:buNone/>
                      </a:pPr>
                      <a:r>
                        <a:rPr lang="en-US" sz="1300" dirty="0">
                          <a:solidFill>
                            <a:srgbClr val="1D2B36"/>
                          </a:solidFill>
                        </a:rPr>
                        <a:t>Worst-case latency (input ±25 mV from a threshold)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50 ns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1.45 µs (0.73 µs at the fastest working timing)</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Flash</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Max conversion rate</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 20 MS/s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 1 MS/s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Flash</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Power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128 µW, all static</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22–24 µW</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SAR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Energy per conversion</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6.4 pJ</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44 pJ (2 µs), 24 pJ (1 µs)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Flash</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Comparators / transistors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7 / 143</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1 / 74 (+ sequencer)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SAR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Transistor gate area (Σ W·L)</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897 µm²</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147 µm²</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SAR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Passives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8 resistors, 56 µm²</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8 MIM caps, 4000 µm² (8 pF)</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Flash, as drawn</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Capacitance on the column</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206 fF</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36 fF</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SAR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DNL spread (1σ, mismatch)</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0.078 LSB</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 0.002 LSB (offset only shifts codes)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SAR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300" dirty="0">
                          <a:solidFill>
                            <a:srgbClr val="1D2B36"/>
                          </a:solidFill>
                        </a:rPr>
                        <a:t>Needs in a real chain</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output latch</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sample-and-hold, sequencer, VREF buffer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8553D"/>
                          </a:solidFill>
                        </a:rPr>
                        <a:t>Flash</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bl>
          </a:graphicData>
        </a:graphic>
      </p:graphicFrame>
      <p:sp>
        <p:nvSpPr>
          <p:cNvPr id="5" name="Text 2"/>
          <p:cNvSpPr txBox="1"/>
          <p:nvPr/>
        </p:nvSpPr>
        <p:spPr>
          <a:xfrm>
            <a:off x="548640" y="5852160"/>
            <a:ext cx="11094415" cy="320040"/>
          </a:xfrm>
          <a:prstGeom prst="rect">
            <a:avLst/>
          </a:prstGeom>
          <a:noFill/>
          <a:ln/>
        </p:spPr>
        <p:txBody>
          <a:bodyPr wrap="square" lIns="0" tIns="0" rIns="0" bIns="0" rtlCol="0" anchor="t"/>
          <a:lstStyle/>
          <a:p>
            <a:pPr indent="0" marL="0">
              <a:spcAft>
                <a:spcPts val="600"/>
              </a:spcAft>
              <a:buNone/>
            </a:pPr>
            <a:r>
              <a:rPr lang="en-US" sz="1200" i="1" dirty="0">
                <a:solidFill>
                  <a:schemeClr val="accent6"/>
                </a:solidFill>
              </a:rPr>
              <a:t>Energy = supply energy (VCC and VREF) over one conversion. Area = devices only, not layout.</a:t>
            </a:r>
            <a:endParaRPr lang="en-US" sz="12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FLASH vs SAR</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With an always-on comparator, a slow conversion costs more energy</a:t>
            </a:r>
            <a:endParaRPr lang="en-US" sz="2800" dirty="0"/>
          </a:p>
        </p:txBody>
      </p:sp>
      <p:graphicFrame>
        <p:nvGraphicFramePr>
          <p:cNvPr id="4" name="chart-energy" descr=""/>
          <p:cNvGraphicFramePr/>
          <p:nvPr/>
        </p:nvGraphicFramePr>
        <p:xfrm>
          <a:off x="548640" y="146304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498080" y="1691640"/>
            <a:ext cx="4142232" cy="3840480"/>
          </a:xfrm>
          <a:prstGeom prst="rect">
            <a:avLst/>
          </a:prstGeom>
          <a:noFill/>
          <a:ln/>
        </p:spPr>
        <p:txBody>
          <a:bodyPr wrap="square" lIns="0" tIns="0" rIns="0" bIns="0" rtlCol="0" anchor="t"/>
          <a:lstStyle/>
          <a:p>
            <a:pPr indent="0" marL="0">
              <a:spcAft>
                <a:spcPts val="600"/>
              </a:spcAft>
              <a:buNone/>
            </a:pPr>
            <a:r>
              <a:rPr lang="en-US" sz="1500" b="1" dirty="0">
                <a:solidFill>
                  <a:srgbClr val="C8553D"/>
                </a:solidFill>
              </a:rPr>
              <a:t>Where the SAR's energy goes</a:t>
            </a:r>
            <a:endParaRPr lang="en-US" sz="1500" dirty="0"/>
          </a:p>
          <a:p>
            <a:pPr indent="0" marL="0">
              <a:spcAft>
                <a:spcPts val="600"/>
              </a:spcAft>
              <a:buNone/>
            </a:pPr>
            <a:r>
              <a:rPr lang="en-US" sz="1500" dirty="0">
                <a:solidFill>
                  <a:schemeClr val="tx1"/>
                </a:solidFill>
              </a:rPr>
              <a:t>About 75–80 % is the comparator's 18 µW bias, flowing for the whole conversion. The rest is charging the CDAC from VREF.</a:t>
            </a:r>
            <a:endParaRPr lang="en-US" sz="1500" dirty="0"/>
          </a:p>
          <a:p>
            <a:pPr indent="0" marL="0">
              <a:spcAft>
                <a:spcPts val="600"/>
              </a:spcAft>
              <a:buNone/>
            </a:pPr>
            <a:r>
              <a:rPr lang="en-US" sz="600" dirty="0">
                <a:solidFill>
                  <a:schemeClr val="tx1"/>
                </a:solidFill>
              </a:rPr>
              <a:t> </a:t>
            </a:r>
            <a:endParaRPr lang="en-US" sz="1500" dirty="0"/>
          </a:p>
          <a:p>
            <a:pPr indent="0" marL="0">
              <a:spcAft>
                <a:spcPts val="600"/>
              </a:spcAft>
              <a:buNone/>
            </a:pPr>
            <a:r>
              <a:rPr lang="en-US" sz="1500" b="1" dirty="0">
                <a:solidFill>
                  <a:srgbClr val="C8553D"/>
                </a:solidFill>
              </a:rPr>
              <a:t>What would flip it</a:t>
            </a:r>
            <a:endParaRPr lang="en-US" sz="1500" dirty="0"/>
          </a:p>
          <a:p>
            <a:pPr indent="0" marL="0">
              <a:spcAft>
                <a:spcPts val="600"/>
              </a:spcAft>
              <a:buNone/>
            </a:pPr>
            <a:r>
              <a:rPr lang="en-US" sz="1500" dirty="0">
                <a:solidFill>
                  <a:schemeClr val="tx1"/>
                </a:solidFill>
              </a:rPr>
              <a:t>A clocked latch comparator draws no static current. Then the SAR pays only for 3 decisions plus the CDAC, and should beat flash on energy.</a:t>
            </a:r>
            <a:endParaRPr lang="en-US" sz="15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WHICH ONE FOR THIS CiM BLOCK</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Flash wins at 3 bits; the chain needs 4+, so SAR goes forward</a:t>
            </a:r>
            <a:endParaRPr lang="en-US" sz="2800" dirty="0"/>
          </a:p>
        </p:txBody>
      </p:sp>
      <p:sp>
        <p:nvSpPr>
          <p:cNvPr id="4" name="when-0"/>
          <p:cNvSpPr/>
          <p:nvPr/>
        </p:nvSpPr>
        <p:spPr>
          <a:xfrm>
            <a:off x="548640" y="1508760"/>
            <a:ext cx="5394960" cy="3246120"/>
          </a:xfrm>
          <a:prstGeom prst="roundRect">
            <a:avLst>
              <a:gd name="adj" fmla="val 2254"/>
            </a:avLst>
          </a:prstGeom>
          <a:solidFill>
            <a:schemeClr val="bg2"/>
          </a:solidFill>
          <a:ln w="12700">
            <a:solidFill>
              <a:schemeClr val="bg2"/>
            </a:solidFill>
            <a:prstDash val="solid"/>
          </a:ln>
        </p:spPr>
      </p:sp>
      <p:sp>
        <p:nvSpPr>
          <p:cNvPr id="5" name="Text 3"/>
          <p:cNvSpPr txBox="1"/>
          <p:nvPr/>
        </p:nvSpPr>
        <p:spPr>
          <a:xfrm>
            <a:off x="822960" y="1691640"/>
            <a:ext cx="4846320" cy="41148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Use flash when</a:t>
            </a:r>
            <a:endParaRPr lang="en-US" sz="1900" dirty="0"/>
          </a:p>
        </p:txBody>
      </p:sp>
      <p:sp>
        <p:nvSpPr>
          <p:cNvPr id="6" name="Text 4"/>
          <p:cNvSpPr txBox="1"/>
          <p:nvPr/>
        </p:nvSpPr>
        <p:spPr>
          <a:xfrm>
            <a:off x="822960" y="2240280"/>
            <a:ext cx="4846320" cy="23774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 3–4 bits (a single 4-row column)</a:t>
            </a:r>
            <a:endParaRPr lang="en-US" sz="1600" dirty="0"/>
          </a:p>
          <a:p>
            <a:pPr marL="203200" indent="-203200">
              <a:spcAft>
                <a:spcPts val="800"/>
              </a:spcAft>
              <a:buSzPct val="100000"/>
              <a:buChar char="•"/>
            </a:pPr>
            <a:r>
              <a:rPr lang="en-US" sz="1600" dirty="0">
                <a:solidFill>
                  <a:schemeClr val="tx1"/>
                </a:solidFill>
              </a:rPr>
              <a:t>one result per clock, latency matters</a:t>
            </a:r>
            <a:endParaRPr lang="en-US" sz="1600" dirty="0"/>
          </a:p>
          <a:p>
            <a:pPr marL="203200" indent="-203200">
              <a:spcAft>
                <a:spcPts val="800"/>
              </a:spcAft>
              <a:buSzPct val="100000"/>
              <a:buChar char="•"/>
            </a:pPr>
            <a:r>
              <a:rPr lang="en-US" sz="1600" dirty="0">
                <a:solidFill>
                  <a:schemeClr val="tx1"/>
                </a:solidFill>
              </a:rPr>
              <a:t>thresholds should be non-uniform (just move the ladder taps)</a:t>
            </a:r>
            <a:endParaRPr lang="en-US" sz="1600" dirty="0"/>
          </a:p>
        </p:txBody>
      </p:sp>
      <p:sp>
        <p:nvSpPr>
          <p:cNvPr id="7" name="when-1"/>
          <p:cNvSpPr/>
          <p:nvPr/>
        </p:nvSpPr>
        <p:spPr>
          <a:xfrm>
            <a:off x="6217920" y="1508760"/>
            <a:ext cx="5394960" cy="3246120"/>
          </a:xfrm>
          <a:prstGeom prst="roundRect">
            <a:avLst>
              <a:gd name="adj" fmla="val 2254"/>
            </a:avLst>
          </a:prstGeom>
          <a:solidFill>
            <a:schemeClr val="bg2"/>
          </a:solidFill>
          <a:ln w="12700">
            <a:solidFill>
              <a:schemeClr val="bg2"/>
            </a:solidFill>
            <a:prstDash val="solid"/>
          </a:ln>
        </p:spPr>
      </p:sp>
      <p:sp>
        <p:nvSpPr>
          <p:cNvPr id="8" name="Text 6"/>
          <p:cNvSpPr txBox="1"/>
          <p:nvPr/>
        </p:nvSpPr>
        <p:spPr>
          <a:xfrm>
            <a:off x="6492240" y="1691640"/>
            <a:ext cx="4846320" cy="411480"/>
          </a:xfrm>
          <a:prstGeom prst="rect">
            <a:avLst/>
          </a:prstGeom>
          <a:noFill/>
          <a:ln/>
        </p:spPr>
        <p:txBody>
          <a:bodyPr wrap="square" lIns="0" tIns="0" rIns="0" bIns="0" rtlCol="0" anchor="t"/>
          <a:lstStyle/>
          <a:p>
            <a:pPr indent="0" marL="0">
              <a:spcAft>
                <a:spcPts val="600"/>
              </a:spcAft>
              <a:buNone/>
            </a:pPr>
            <a:r>
              <a:rPr lang="en-US" sz="1900" b="1" dirty="0">
                <a:solidFill>
                  <a:schemeClr val="accent1"/>
                </a:solidFill>
              </a:rPr>
              <a:t>Use SAR when</a:t>
            </a:r>
            <a:endParaRPr lang="en-US" sz="1900" dirty="0"/>
          </a:p>
        </p:txBody>
      </p:sp>
      <p:sp>
        <p:nvSpPr>
          <p:cNvPr id="9" name="Text 7"/>
          <p:cNvSpPr txBox="1"/>
          <p:nvPr/>
        </p:nvSpPr>
        <p:spPr>
          <a:xfrm>
            <a:off x="6492240" y="2240280"/>
            <a:ext cx="4846320" cy="23774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 4 bits, e.g. after shift-add</a:t>
            </a:r>
            <a:endParaRPr lang="en-US" sz="1600" dirty="0"/>
          </a:p>
          <a:p>
            <a:pPr marL="203200" indent="-203200">
              <a:spcAft>
                <a:spcPts val="800"/>
              </a:spcAft>
              <a:buSzPct val="100000"/>
              <a:buChar char="•"/>
            </a:pPr>
            <a:r>
              <a:rPr lang="en-US" sz="1600" dirty="0">
                <a:solidFill>
                  <a:schemeClr val="tx1"/>
                </a:solidFill>
              </a:rPr>
              <a:t>an ADC per column or a tight column pitch</a:t>
            </a:r>
            <a:endParaRPr lang="en-US" sz="1600" dirty="0"/>
          </a:p>
          <a:p>
            <a:pPr marL="203200" indent="-203200">
              <a:spcAft>
                <a:spcPts val="800"/>
              </a:spcAft>
              <a:buSzPct val="100000"/>
              <a:buChar char="•"/>
            </a:pPr>
            <a:r>
              <a:rPr lang="en-US" sz="1600" dirty="0">
                <a:solidFill>
                  <a:schemeClr val="tx1"/>
                </a:solidFill>
              </a:rPr>
              <a:t>one trim must fix the offset</a:t>
            </a:r>
            <a:endParaRPr lang="en-US" sz="1600" dirty="0"/>
          </a:p>
          <a:p>
            <a:pPr marL="203200" indent="-203200">
              <a:spcAft>
                <a:spcPts val="800"/>
              </a:spcAft>
              <a:buSzPct val="100000"/>
              <a:buChar char="•"/>
            </a:pPr>
            <a:r>
              <a:rPr lang="en-US" sz="1600" dirty="0">
                <a:solidFill>
                  <a:schemeClr val="tx1"/>
                </a:solidFill>
              </a:rPr>
              <a:t>with a latch comparator, for low energy</a:t>
            </a:r>
            <a:endParaRPr lang="en-US" sz="1600" dirty="0"/>
          </a:p>
        </p:txBody>
      </p:sp>
      <p:sp>
        <p:nvSpPr>
          <p:cNvPr id="10" name="Text 8"/>
          <p:cNvSpPr txBox="1"/>
          <p:nvPr/>
        </p:nvSpPr>
        <p:spPr>
          <a:xfrm>
            <a:off x="548640" y="4983480"/>
            <a:ext cx="11094415" cy="10972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For my chain: </a:t>
            </a:r>
            <a:pPr indent="0" marL="0">
              <a:spcAft>
                <a:spcPts val="600"/>
              </a:spcAft>
              <a:buNone/>
            </a:pPr>
            <a:r>
              <a:rPr lang="en-US" sz="1600" dirty="0">
                <a:solidFill>
                  <a:schemeClr val="tx1"/>
                </a:solidFill>
              </a:rPr>
              <a:t>one column needs 3 bits, but after 2-column shift-add it needs 4, and after 4 columns, 6. A flash at 6 bits needs 63 comparators, and my Monte Carlo predicts missing codes from 5 bits without trimming every comparator. So the next design is a 4-bit SAR, sized for the 0–0.2 V column swing.</a:t>
            </a:r>
            <a:endParaRPr lang="en-US" sz="16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OPEN QUESTIONS FROM LAST MEETING</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My answers, worked out on paper</a:t>
            </a:r>
            <a:endParaRPr lang="en-US" sz="2800" dirty="0"/>
          </a:p>
        </p:txBody>
      </p:sp>
      <p:sp>
        <p:nvSpPr>
          <p:cNvPr id="4" name="Text 2"/>
          <p:cNvSpPr txBox="1"/>
          <p:nvPr/>
        </p:nvSpPr>
        <p:spPr>
          <a:xfrm>
            <a:off x="548640" y="1508760"/>
            <a:ext cx="3931920" cy="10058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Why is the TIA output negative?</a:t>
            </a:r>
            <a:endParaRPr lang="en-US" sz="1600" dirty="0"/>
          </a:p>
        </p:txBody>
      </p:sp>
      <p:sp>
        <p:nvSpPr>
          <p:cNvPr id="5" name="Text 3"/>
          <p:cNvSpPr txBox="1"/>
          <p:nvPr/>
        </p:nvSpPr>
        <p:spPr>
          <a:xfrm>
            <a:off x="4663440" y="1508760"/>
            <a:ext cx="6976872" cy="105156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The column current flows into the virtual-ground node (held at 0 V by the op-amp). It cannot enter the op-amp, so it flows through Rf to the output: Vout = 0 − I·Rf = −I·Rf.</a:t>
            </a:r>
            <a:endParaRPr lang="en-US" sz="1500" dirty="0"/>
          </a:p>
        </p:txBody>
      </p:sp>
      <p:sp>
        <p:nvSpPr>
          <p:cNvPr id="6" name="Text 4"/>
          <p:cNvSpPr txBox="1"/>
          <p:nvPr/>
        </p:nvSpPr>
        <p:spPr>
          <a:xfrm>
            <a:off x="548640" y="2624328"/>
            <a:ext cx="3931920" cy="10058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What if the op-amp inputs are swapped?</a:t>
            </a:r>
            <a:endParaRPr lang="en-US" sz="1600" dirty="0"/>
          </a:p>
        </p:txBody>
      </p:sp>
      <p:sp>
        <p:nvSpPr>
          <p:cNvPr id="7" name="Text 5"/>
          <p:cNvSpPr txBox="1"/>
          <p:nvPr/>
        </p:nvSpPr>
        <p:spPr>
          <a:xfrm>
            <a:off x="4663440" y="2624328"/>
            <a:ext cx="6976872" cy="105156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The feedback then goes to the + input: positive feedback. Any error is amplified instead of corrected, so the output runs to a rail. It becomes a latch, not an amplifier.</a:t>
            </a:r>
            <a:endParaRPr lang="en-US" sz="1500" dirty="0"/>
          </a:p>
        </p:txBody>
      </p:sp>
      <p:sp>
        <p:nvSpPr>
          <p:cNvPr id="8" name="Text 6"/>
          <p:cNvSpPr txBox="1"/>
          <p:nvPr/>
        </p:nvSpPr>
        <p:spPr>
          <a:xfrm>
            <a:off x="548640" y="3739896"/>
            <a:ext cx="3931920" cy="10058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How do negative weights work?</a:t>
            </a:r>
            <a:endParaRPr lang="en-US" sz="1600" dirty="0"/>
          </a:p>
        </p:txBody>
      </p:sp>
      <p:sp>
        <p:nvSpPr>
          <p:cNvPr id="9" name="Text 7"/>
          <p:cNvSpPr txBox="1"/>
          <p:nvPr/>
        </p:nvSpPr>
        <p:spPr>
          <a:xfrm>
            <a:off x="4663440" y="3739896"/>
            <a:ext cx="6976872" cy="105156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Use two columns per weight, W+ and W−, each with one current direction. Result = code(W+) − code(W−); or, in the shift-add, drive the W− capacitor's bottom plate below VREF so its charge subtracts.</a:t>
            </a:r>
            <a:endParaRPr lang="en-US" sz="1500" dirty="0"/>
          </a:p>
        </p:txBody>
      </p:sp>
      <p:sp>
        <p:nvSpPr>
          <p:cNvPr id="10" name="Text 8"/>
          <p:cNvSpPr txBox="1"/>
          <p:nvPr/>
        </p:nvSpPr>
        <p:spPr>
          <a:xfrm>
            <a:off x="548640" y="4855464"/>
            <a:ext cx="3931920" cy="100584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Who generates the switch pulses?</a:t>
            </a:r>
            <a:endParaRPr lang="en-US" sz="1600" dirty="0"/>
          </a:p>
        </p:txBody>
      </p:sp>
      <p:sp>
        <p:nvSpPr>
          <p:cNvPr id="11" name="Text 9"/>
          <p:cNvSpPr txBox="1"/>
          <p:nvPr/>
        </p:nvSpPr>
        <p:spPr>
          <a:xfrm>
            <a:off x="4663440" y="4855464"/>
            <a:ext cx="6976872" cy="105156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A small digital sequencer: a 6-bit counter at 20 MHz plus a decoder gives RST/SHARE for the shift-add and RST/TRY/DEC for the SAR. Today they are ideal sources.</a:t>
            </a:r>
            <a:endParaRPr lang="en-US" sz="15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MILESTONE STATUS</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Weeks 1–3 mostly done; the full chain is next</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4206240"/>
                <a:gridCol w="2743200"/>
              </a:tblGrid>
              <a:tr h="457200">
                <a:tc>
                  <a:txBody>
                    <a:bodyPr/>
                    <a:lstStyle/>
                    <a:p>
                      <a:pPr indent="0" marL="0">
                        <a:buNone/>
                      </a:pPr>
                      <a:r>
                        <a:rPr lang="en-US" sz="1400" b="1" dirty="0">
                          <a:solidFill>
                            <a:srgbClr val="1D2B36"/>
                          </a:solidFill>
                        </a:rPr>
                        <a:t>Milestone item</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400" b="1" dirty="0">
                          <a:solidFill>
                            <a:srgbClr val="1D2B36"/>
                          </a:solidFill>
                        </a:rPr>
                        <a:t>Status</a:t>
                      </a:r>
                      <a:endParaRPr lang="en-US" sz="14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r>
              <a:tr h="457200">
                <a:tc>
                  <a:txBody>
                    <a:bodyPr/>
                    <a:lstStyle/>
                    <a:p>
                      <a:pPr indent="0" marL="0">
                        <a:buNone/>
                      </a:pPr>
                      <a:r>
                        <a:rPr lang="en-US" sz="1400" dirty="0">
                          <a:solidFill>
                            <a:srgbClr val="1D2B36"/>
                          </a:solidFill>
                        </a:rPr>
                        <a:t>4×4 array: hand formula vs simulation, voltage levels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3D7A8A"/>
                          </a:solidFill>
                        </a:rPr>
                        <a:t>Done (2.3 kΩ switch explains the gap)</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400" dirty="0">
                          <a:solidFill>
                            <a:srgbClr val="1D2B36"/>
                          </a:solidFill>
                        </a:rPr>
                        <a:t>ADC resolution from the array</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3D7A8A"/>
                          </a:solidFill>
                        </a:rPr>
                        <a:t>Done: 3 bits per column, 4 after 2-col shift-add</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400" dirty="0">
                          <a:solidFill>
                            <a:srgbClr val="1D2B36"/>
                          </a:solidFill>
                        </a:rPr>
                        <a:t>TIA: sign and swapped inputs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C8553D"/>
                          </a:solidFill>
                        </a:rPr>
                        <a:t>Answered on paper; TIA not built yet</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400" dirty="0">
                          <a:solidFill>
                            <a:srgbClr val="1D2B36"/>
                          </a:solidFill>
                        </a:rPr>
                        <a:t>2-column shift-add: hand, timing diagram, simulation</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3D7A8A"/>
                          </a:solidFill>
                        </a:rPr>
                        <a:t>Done (within 1 %)</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400" dirty="0">
                          <a:solidFill>
                            <a:srgbClr val="1D2B36"/>
                          </a:solidFill>
                        </a:rPr>
                        <a:t>Comparator: offset, delay, energy</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C8553D"/>
                          </a:solidFill>
                        </a:rPr>
                        <a:t>Done (continuous-time); latch comparator next</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400" dirty="0">
                          <a:solidFill>
                            <a:srgbClr val="1D2B36"/>
                          </a:solidFill>
                        </a:rPr>
                        <a:t>SAR: CDAC, binary search, timing, DNL/INL, energy</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3D7A8A"/>
                          </a:solidFill>
                        </a:rPr>
                        <a:t>Done at 3 bits</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400" dirty="0">
                          <a:solidFill>
                            <a:srgbClr val="1D2B36"/>
                          </a:solidFill>
                        </a:rPr>
                        <a:t>Connect array → shift-add → ADC</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400" b="1" dirty="0">
                          <a:solidFill>
                            <a:srgbClr val="8A949C"/>
                          </a:solidFill>
                        </a:rPr>
                        <a:t>Next</a:t>
                      </a:r>
                      <a:endParaRPr lang="en-US" sz="14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bl>
          </a:graphicData>
        </a:graphic>
      </p:graphicFrame>
      <p:sp>
        <p:nvSpPr>
          <p:cNvPr id="5" name="next-steps"/>
          <p:cNvSpPr/>
          <p:nvPr/>
        </p:nvSpPr>
        <p:spPr>
          <a:xfrm>
            <a:off x="7818120" y="1463040"/>
            <a:ext cx="3822192" cy="4434840"/>
          </a:xfrm>
          <a:prstGeom prst="roundRect">
            <a:avLst>
              <a:gd name="adj" fmla="val 1914"/>
            </a:avLst>
          </a:prstGeom>
          <a:solidFill>
            <a:schemeClr val="bg2"/>
          </a:solidFill>
          <a:ln w="12700">
            <a:solidFill>
              <a:schemeClr val="bg2"/>
            </a:solidFill>
            <a:prstDash val="solid"/>
          </a:ln>
        </p:spPr>
      </p:sp>
      <p:sp>
        <p:nvSpPr>
          <p:cNvPr id="6" name="Text 3"/>
          <p:cNvSpPr txBox="1"/>
          <p:nvPr/>
        </p:nvSpPr>
        <p:spPr>
          <a:xfrm>
            <a:off x="8046720" y="1645920"/>
            <a:ext cx="3383280" cy="41148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Next two weeks</a:t>
            </a:r>
            <a:endParaRPr lang="en-US" sz="1800" dirty="0"/>
          </a:p>
        </p:txBody>
      </p:sp>
      <p:sp>
        <p:nvSpPr>
          <p:cNvPr id="7" name="Text 4"/>
          <p:cNvSpPr txBox="1"/>
          <p:nvPr/>
        </p:nvSpPr>
        <p:spPr>
          <a:xfrm>
            <a:off x="8046720" y="2148840"/>
            <a:ext cx="3383280" cy="35661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500" dirty="0">
                <a:solidFill>
                  <a:schemeClr val="tx1"/>
                </a:solidFill>
              </a:rPr>
              <a:t>TIA so the column range fits the ADC and is linear in MAC</a:t>
            </a:r>
            <a:endParaRPr lang="en-US" sz="1500" dirty="0"/>
          </a:p>
          <a:p>
            <a:pPr marL="342900" indent="-342900">
              <a:spcAft>
                <a:spcPts val="1000"/>
              </a:spcAft>
              <a:buSzPct val="100000"/>
              <a:buFont typeface="+mj-lt"/>
              <a:buAutoNum type="arabicPeriod" startAt="1"/>
            </a:pPr>
            <a:r>
              <a:rPr lang="en-US" sz="1500" dirty="0">
                <a:solidFill>
                  <a:schemeClr val="tx1"/>
                </a:solidFill>
              </a:rPr>
              <a:t>4-bit SAR with a latch comparator and smaller CDAC</a:t>
            </a:r>
            <a:endParaRPr lang="en-US" sz="1500" dirty="0"/>
          </a:p>
          <a:p>
            <a:pPr marL="342900" indent="-342900">
              <a:spcAft>
                <a:spcPts val="1000"/>
              </a:spcAft>
              <a:buSzPct val="100000"/>
              <a:buFont typeface="+mj-lt"/>
              <a:buAutoNum type="arabicPeriod" startAt="1"/>
            </a:pPr>
            <a:r>
              <a:rPr lang="en-US" sz="1500" dirty="0">
                <a:solidFill>
                  <a:schemeClr val="tx1"/>
                </a:solidFill>
              </a:rPr>
              <a:t>Sample-and-hold and the counter sequencer</a:t>
            </a:r>
            <a:endParaRPr lang="en-US" sz="1500" dirty="0"/>
          </a:p>
          <a:p>
            <a:pPr marL="342900" indent="-342900">
              <a:spcAft>
                <a:spcPts val="1000"/>
              </a:spcAft>
              <a:buSzPct val="100000"/>
              <a:buFont typeface="+mj-lt"/>
              <a:buAutoNum type="arabicPeriod" startAt="1"/>
            </a:pPr>
            <a:r>
              <a:rPr lang="en-US" sz="1500" dirty="0">
                <a:solidFill>
                  <a:schemeClr val="tx1"/>
                </a:solidFill>
              </a:rPr>
              <a:t>Full chain: array → shift-add → SAR, codes vs expected MAC</a:t>
            </a:r>
            <a:endParaRPr lang="en-US" sz="15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058400" cy="109728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Backup: mismatch Monte Carlo</a:t>
            </a:r>
            <a:endParaRPr lang="en-US" sz="3600" dirty="0"/>
          </a:p>
        </p:txBody>
      </p:sp>
      <p:sp>
        <p:nvSpPr>
          <p:cNvPr id="3" name="Text 0"/>
          <p:cNvSpPr/>
          <p:nvPr>
            <p:ph idx="101" type="body" hasCustomPrompt="1"/>
          </p:nvPr>
        </p:nvSpPr>
        <p:spPr>
          <a:xfrm>
            <a:off x="548640" y="3611880"/>
            <a:ext cx="10058400" cy="1097280"/>
          </a:xfrm>
          <a:prstGeom prst="rect">
            <a:avLst/>
          </a:prstGeom>
          <a:noFill/>
          <a:ln/>
        </p:spPr>
        <p:txBody>
          <a:bodyPr wrap="square" lIns="0" tIns="0" rIns="0" bIns="0" rtlCol="0" anchor="t"/>
          <a:lstStyle/>
          <a:p>
            <a:pPr indent="0" marL="0">
              <a:buNone/>
            </a:pPr>
            <a:r>
              <a:rPr lang="en-US" sz="1800" dirty="0">
                <a:solidFill>
                  <a:schemeClr val="accent4"/>
                </a:solidFill>
              </a:rPr>
              <a:t>Not for today's meeting. Keep it ready in case he asks how robust the ADCs are.</a:t>
            </a:r>
            <a:endParaRPr lang="en-US" sz="18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BACKUP · FLASH MONTE CARLO (100 CHIPS)</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Random offset is 5.5 mV per comparator; no missing codes at 3 bits</a:t>
            </a:r>
            <a:endParaRPr lang="en-US" sz="2800" dirty="0"/>
          </a:p>
        </p:txBody>
      </p:sp>
      <p:pic>
        <p:nvPicPr>
          <p:cNvPr id="4" name="plot_mc.png" descr="Monte Carlo threshold errors per comparator">    </p:cNvPr>
          <p:cNvPicPr>
            <a:picLocks noChangeAspect="1"/>
          </p:cNvPicPr>
          <p:nvPr/>
        </p:nvPicPr>
        <p:blipFill>
          <a:blip r:embed="rId1"/>
          <a:stretch>
            <a:fillRect/>
          </a:stretch>
        </p:blipFill>
        <p:spPr>
          <a:xfrm>
            <a:off x="548640" y="1666240"/>
            <a:ext cx="6675120" cy="3708400"/>
          </a:xfrm>
          <a:prstGeom prst="rect">
            <a:avLst/>
          </a:prstGeom>
        </p:spPr>
      </p:pic>
      <p:sp>
        <p:nvSpPr>
          <p:cNvPr id="5" name="Text 2"/>
          <p:cNvSpPr txBox="1"/>
          <p:nvPr/>
        </p:nvSpPr>
        <p:spPr>
          <a:xfrm>
            <a:off x="548640" y="5669280"/>
            <a:ext cx="6675120" cy="274320"/>
          </a:xfrm>
          <a:prstGeom prst="rect">
            <a:avLst/>
          </a:prstGeom>
          <a:noFill/>
          <a:ln/>
        </p:spPr>
        <p:txBody>
          <a:bodyPr wrap="square" lIns="0" tIns="0" rIns="0" bIns="0" rtlCol="0" anchor="t"/>
          <a:lstStyle/>
          <a:p>
            <a:pPr indent="0" marL="0">
              <a:spcAft>
                <a:spcPts val="600"/>
              </a:spcAft>
              <a:buNone/>
            </a:pPr>
            <a:r>
              <a:rPr lang="en-US" sz="1100" i="1" dirty="0">
                <a:solidFill>
                  <a:schemeClr val="accent6"/>
                </a:solidFill>
              </a:rPr>
              <a:t>sky130 tt_mm, 100 runs, DC sweep of VIN. The common offset (+51 mV, from ADJ = 0.9 V in this run) is removed.</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543800" y="1508760"/>
          <a:ext cx="4096512" cy="914400"/>
        </p:xfrm>
        <a:graphic>
          <a:graphicData uri="http://schemas.openxmlformats.org/drawingml/2006/table">
            <a:tbl>
              <a:tblPr/>
              <a:tblGrid>
                <a:gridCol w="1828800"/>
                <a:gridCol w="2267712"/>
              </a:tblGrid>
              <a:tr h="411480">
                <a:tc>
                  <a:txBody>
                    <a:bodyPr/>
                    <a:lstStyle/>
                    <a:p>
                      <a:pPr indent="0" marL="0">
                        <a:buNone/>
                      </a:pPr>
                      <a:r>
                        <a:rPr lang="en-US" sz="1300" b="1" dirty="0">
                          <a:solidFill>
                            <a:srgbClr val="1D2B36"/>
                          </a:solidFill>
                        </a:rPr>
                        <a:t>Result</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300" b="1" dirty="0">
                          <a:solidFill>
                            <a:srgbClr val="1D2B36"/>
                          </a:solidFill>
                        </a:rPr>
                        <a:t>Value</a:t>
                      </a:r>
                      <a:endParaRPr lang="en-US" sz="13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r>
              <a:tr h="411480">
                <a:tc>
                  <a:txBody>
                    <a:bodyPr/>
                    <a:lstStyle/>
                    <a:p>
                      <a:pPr indent="0" marL="0">
                        <a:buNone/>
                      </a:pPr>
                      <a:r>
                        <a:rPr lang="en-US" sz="1300" dirty="0">
                          <a:solidFill>
                            <a:srgbClr val="1D2B36"/>
                          </a:solidFill>
                        </a:rPr>
                        <a:t>Offset spread (1σ)</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5.1–6.0 mV per threshold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11480">
                <a:tc>
                  <a:txBody>
                    <a:bodyPr/>
                    <a:lstStyle/>
                    <a:p>
                      <a:pPr indent="0" marL="0">
                        <a:buNone/>
                      </a:pPr>
                      <a:r>
                        <a:rPr lang="en-US" sz="1300" dirty="0">
                          <a:solidFill>
                            <a:srgbClr val="1D2B36"/>
                          </a:solidFill>
                        </a:rPr>
                        <a:t>DNL</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σ 0.078, worst 0.29 LSB</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11480">
                <a:tc>
                  <a:txBody>
                    <a:bodyPr/>
                    <a:lstStyle/>
                    <a:p>
                      <a:pPr indent="0" marL="0">
                        <a:buNone/>
                      </a:pPr>
                      <a:r>
                        <a:rPr lang="en-US" sz="1300" dirty="0">
                          <a:solidFill>
                            <a:srgbClr val="1D2B36"/>
                          </a:solidFill>
                        </a:rPr>
                        <a:t>INL (offset removed)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σ 0.063, worst 0.21 LSB</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11480">
                <a:tc>
                  <a:txBody>
                    <a:bodyPr/>
                    <a:lstStyle/>
                    <a:p>
                      <a:pPr indent="0" marL="0">
                        <a:buNone/>
                      </a:pPr>
                      <a:r>
                        <a:rPr lang="en-US" sz="1300" dirty="0">
                          <a:solidFill>
                            <a:srgbClr val="1D2B36"/>
                          </a:solidFill>
                        </a:rPr>
                        <a:t>Missing codes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0 of 100 chips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411480">
                <a:tc>
                  <a:txBody>
                    <a:bodyPr/>
                    <a:lstStyle/>
                    <a:p>
                      <a:pPr indent="0" marL="0">
                        <a:buNone/>
                      </a:pPr>
                      <a:r>
                        <a:rPr lang="en-US" sz="1300" dirty="0">
                          <a:solidFill>
                            <a:srgbClr val="1D2B36"/>
                          </a:solidFill>
                        </a:rPr>
                        <a:t>Worst error after trim</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D2B36"/>
                          </a:solidFill>
                        </a:rPr>
                        <a:t>22.6 mV (&lt; ½ LSB)</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bl>
          </a:graphicData>
        </a:graphic>
      </p:graphicFrame>
      <p:sp>
        <p:nvSpPr>
          <p:cNvPr id="7" name="Text 3"/>
          <p:cNvSpPr txBox="1"/>
          <p:nvPr/>
        </p:nvSpPr>
        <p:spPr>
          <a:xfrm>
            <a:off x="7543800" y="4206240"/>
            <a:ext cx="4096512" cy="10972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Hand estimate from transistor sizes (Pelgrom, input pair + load): 5.6 mV and DNL 0.080 LSB, within 2 % of the Monte Carlo.</a:t>
            </a:r>
            <a:endParaRPr lang="en-US" sz="14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74320"/>
          </a:xfrm>
          <a:prstGeom prst="rect">
            <a:avLst/>
          </a:prstGeom>
          <a:noFill/>
          <a:ln/>
        </p:spPr>
        <p:txBody>
          <a:bodyPr wrap="square" lIns="0" tIns="0" rIns="0" bIns="0" rtlCol="0"/>
          <a:lstStyle/>
          <a:p>
            <a:pPr indent="0" marL="0">
              <a:buNone/>
            </a:pPr>
            <a:r>
              <a:rPr lang="en-US" sz="1200" b="1" dirty="0">
                <a:solidFill>
                  <a:schemeClr val="accent1"/>
                </a:solidFill>
              </a:rPr>
              <a:t>BACKUP · WHAT HAPPENS AT MORE BITS</a:t>
            </a:r>
            <a:endParaRPr lang="en-US" sz="1200" dirty="0"/>
          </a:p>
        </p:txBody>
      </p:sp>
      <p:sp>
        <p:nvSpPr>
          <p:cNvPr id="3" name="Text 0"/>
          <p:cNvSpPr/>
          <p:nvPr>
            <p:ph idx="101" type="title" hasCustomPrompt="1"/>
          </p:nvPr>
        </p:nvSpPr>
        <p:spPr>
          <a:xfrm>
            <a:off x="548640" y="594360"/>
            <a:ext cx="11094415" cy="77724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An untrimmed flash almost always misses a code at 6 bits</a:t>
            </a:r>
            <a:endParaRPr lang="en-US" sz="2800" dirty="0"/>
          </a:p>
        </p:txBody>
      </p:sp>
      <p:graphicFrame>
        <p:nvGraphicFramePr>
          <p:cNvPr id="4" name="chart-scaling" descr=""/>
          <p:cNvGraphicFramePr/>
          <p:nvPr/>
        </p:nvGraphicFramePr>
        <p:xfrm>
          <a:off x="548640" y="1463040"/>
          <a:ext cx="694944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0" y="1508760"/>
          <a:ext cx="3867912" cy="914400"/>
        </p:xfrm>
        <a:graphic>
          <a:graphicData uri="http://schemas.openxmlformats.org/drawingml/2006/table">
            <a:tbl>
              <a:tblPr/>
              <a:tblGrid>
                <a:gridCol w="548640"/>
                <a:gridCol w="1097280"/>
                <a:gridCol w="1234440"/>
                <a:gridCol w="987552"/>
              </a:tblGrid>
              <a:tr h="384048">
                <a:tc>
                  <a:txBody>
                    <a:bodyPr/>
                    <a:lstStyle/>
                    <a:p>
                      <a:pPr indent="0" marL="0">
                        <a:buNone/>
                      </a:pPr>
                      <a:r>
                        <a:rPr lang="en-US" sz="1200" b="1" dirty="0">
                          <a:solidFill>
                            <a:srgbClr val="1D2B36"/>
                          </a:solidFill>
                        </a:rPr>
                        <a:t>Bits</a:t>
                      </a:r>
                      <a:endParaRPr lang="en-US" sz="12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200" b="1" dirty="0">
                          <a:solidFill>
                            <a:srgbClr val="1D2B36"/>
                          </a:solidFill>
                        </a:rPr>
                        <a:t>Flash comparators</a:t>
                      </a:r>
                      <a:endParaRPr lang="en-US" sz="12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200" b="1" dirty="0">
                          <a:solidFill>
                            <a:srgbClr val="1D2B36"/>
                          </a:solidFill>
                        </a:rPr>
                        <a:t>Flash comparator power</a:t>
                      </a:r>
                      <a:endParaRPr lang="en-US" sz="12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c>
                  <a:txBody>
                    <a:bodyPr/>
                    <a:lstStyle/>
                    <a:p>
                      <a:pPr indent="0" marL="0">
                        <a:buNone/>
                      </a:pPr>
                      <a:r>
                        <a:rPr lang="en-US" sz="1200" b="1" dirty="0">
                          <a:solidFill>
                            <a:srgbClr val="1D2B36"/>
                          </a:solidFill>
                        </a:rPr>
                        <a:t>SAR decisions</a:t>
                      </a:r>
                      <a:endParaRPr lang="en-US" sz="1200" dirty="0"/>
                    </a:p>
                  </a:txBody>
                  <a:tcPr marL="76200" marR="76200" marT="38100" marB="38100" anchor="ctr">
                    <a:lnL w="0" cap="flat" cmpd="sng" algn="ctr">
                      <a:noFill/>
                    </a:lnL>
                    <a:lnR w="0" cap="flat" cmpd="sng" algn="ctr">
                      <a:noFill/>
                    </a:lnR>
                    <a:lnT w="0" cap="flat" cmpd="sng" algn="ctr">
                      <a:noFill/>
                    </a:lnT>
                    <a:lnB w="12700" cap="flat" cmpd="sng" algn="ctr">
                      <a:solidFill>
                        <a:srgbClr val="8A949C"/>
                      </a:solidFill>
                      <a:prstDash val="solid"/>
                      <a:round/>
                      <a:headEnd type="none" w="med" len="med"/>
                      <a:tailEnd type="none" w="med" len="med"/>
                    </a:lnB>
                    <a:solidFill>
                      <a:srgbClr val="F1F3F4"/>
                    </a:solidFill>
                  </a:tcPr>
                </a:tc>
              </a:tr>
              <a:tr h="384048">
                <a:tc>
                  <a:txBody>
                    <a:bodyPr/>
                    <a:lstStyle/>
                    <a:p>
                      <a:pPr indent="0" marL="0">
                        <a:buNone/>
                      </a:pPr>
                      <a:r>
                        <a:rPr lang="en-US" sz="1200" dirty="0">
                          <a:solidFill>
                            <a:srgbClr val="1D2B36"/>
                          </a:solidFill>
                        </a:rPr>
                        <a:t>3</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7</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124 µW</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3</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200" dirty="0">
                          <a:solidFill>
                            <a:srgbClr val="1D2B36"/>
                          </a:solidFill>
                        </a:rPr>
                        <a:t>4</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15</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266 µW</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4</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200" dirty="0">
                          <a:solidFill>
                            <a:srgbClr val="1D2B36"/>
                          </a:solidFill>
                        </a:rPr>
                        <a:t>5</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31</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549 µW</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5</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200" dirty="0">
                          <a:solidFill>
                            <a:srgbClr val="1D2B36"/>
                          </a:solidFill>
                        </a:rPr>
                        <a:t>6</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63</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1.1 mW</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6</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r h="384048">
                <a:tc>
                  <a:txBody>
                    <a:bodyPr/>
                    <a:lstStyle/>
                    <a:p>
                      <a:pPr indent="0" marL="0">
                        <a:buNone/>
                      </a:pPr>
                      <a:r>
                        <a:rPr lang="en-US" sz="1200" dirty="0">
                          <a:solidFill>
                            <a:srgbClr val="1D2B36"/>
                          </a:solidFill>
                        </a:rPr>
                        <a:t>8</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255</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4.5 mW</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D2B36"/>
                          </a:solidFill>
                        </a:rPr>
                        <a:t>8</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D9DEE2"/>
                      </a:solidFill>
                      <a:prstDash val="solid"/>
                      <a:round/>
                      <a:headEnd type="none" w="med" len="med"/>
                      <a:tailEnd type="none" w="med" len="med"/>
                    </a:lnB>
                  </a:tcPr>
                </a:tc>
              </a:tr>
            </a:tbl>
          </a:graphicData>
        </a:graphic>
      </p:graphicFrame>
      <p:sp>
        <p:nvSpPr>
          <p:cNvPr id="6" name="Text 2"/>
          <p:cNvSpPr txBox="1"/>
          <p:nvPr/>
        </p:nvSpPr>
        <p:spPr>
          <a:xfrm>
            <a:off x="7772400" y="4114800"/>
            <a:ext cx="3867912" cy="91440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LSB = 800 mV / 2^bits: at 6 bits it is 12.5 mV, only about 2σ of comparator offset.</a:t>
            </a:r>
            <a:endParaRPr lang="en-US" sz="1400" dirty="0"/>
          </a:p>
        </p:txBody>
      </p:sp>
      <p:sp>
        <p:nvSpPr>
          <p:cNvPr id="25" name="Slide Number Placeholder 0"/>
          <p:cNvSpPr>
            <a:spLocks noGrp="1"/>
          </p:cNvSpPr>
          <p:nvPr>
            <p:ph type="sldNum" sz="quarter" idx="4294967295"/>
          </p:nvPr>
        </p:nvSpPr>
        <p:spPr>
          <a:xfrm>
            <a:off x="11094415" y="64739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9C"/>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Silicon Notebook">
  <a:themeElements>
    <a:clrScheme name="Silicon Notebook">
      <a:dk1>
        <a:srgbClr val="1D2B36"/>
      </a:dk1>
      <a:lt1>
        <a:srgbClr val="FFFFFF"/>
      </a:lt1>
      <a:dk2>
        <a:srgbClr val="3B4A55"/>
      </a:dk2>
      <a:lt2>
        <a:srgbClr val="F1F3F4"/>
      </a:lt2>
      <a:accent1>
        <a:srgbClr val="C8553D"/>
      </a:accent1>
      <a:accent2>
        <a:srgbClr val="3D7A8A"/>
      </a:accent2>
      <a:accent3>
        <a:srgbClr val="8A949C"/>
      </a:accent3>
      <a:accent4>
        <a:srgbClr val="D9DEE2"/>
      </a:accent4>
      <a:accent5>
        <a:srgbClr val="E9C3B8"/>
      </a:accent5>
      <a:accent6>
        <a:srgbClr val="6B7680"/>
      </a:accent6>
      <a:hlink>
        <a:srgbClr val="3D7A8A"/>
      </a:hlink>
      <a:folHlink>
        <a:srgbClr val="6B7680"/>
      </a:folHlink>
    </a:clrScheme>
    <a:fontScheme name="Silicon Note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ADC for a Compute-in-Memory Block: Progress Review</dc:title>
  <dc:subject>PptxGenJS Presentation</dc:subject>
  <dc:creator>Siddhartha Agarwal</dc:creator>
  <cp:lastModifiedBy>Siddhartha Agarwal</cp:lastModifiedBy>
  <cp:revision>1</cp:revision>
  <dcterms:created xsi:type="dcterms:W3CDTF">2026-10-29T00:08:11Z</dcterms:created>
  <dcterms:modified xsi:type="dcterms:W3CDTF">2026-10-29T00:08:11Z</dcterms:modified>
</cp:coreProperties>
</file>